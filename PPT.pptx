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6858000" type="screen4x3"/>
  <p:notesSz cx="7559675" cy="106918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3" roundtripDataSignature="AMtx7mgArRq0E4n9/q8D6GDa0YSRm2hb9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3" d="100"/>
          <a:sy n="53" d="100"/>
        </p:scale>
        <p:origin x="32" y="11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customschemas.google.com/relationships/presentationmetadata" Target="metadata"/><Relationship Id="rId3" Type="http://schemas.openxmlformats.org/officeDocument/2006/relationships/slide" Target="slides/slide2.xml"/><Relationship Id="rId7" Type="http://schemas.openxmlformats.org/officeDocument/2006/relationships/slide" Target="slides/slide6.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276600" cy="53657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281488" y="0"/>
            <a:ext cx="3276600" cy="536575"/>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10155238"/>
            <a:ext cx="3276600" cy="536575"/>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1: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 name="Google Shape;80;p1: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 name="Google Shape;81;p1: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
        <p:nvSpPr>
          <p:cNvPr id="82" name="Google Shape;82;p1:notes"/>
          <p:cNvSpPr txBox="1">
            <a:spLocks noGrp="1"/>
          </p:cNvSpPr>
          <p:nvPr>
            <p:ph type="ftr" idx="11"/>
          </p:nvPr>
        </p:nvSpPr>
        <p:spPr>
          <a:xfrm>
            <a:off x="0" y="10155238"/>
            <a:ext cx="3276600" cy="53657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Name of the faculty [Group: G00] [Sem:2nd]</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2: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3: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p4: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5: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 name="Google Shape;109;p5: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6: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p6: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7: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 name="Google Shape;122;p7: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3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31"/>
        <p:cNvGrpSpPr/>
        <p:nvPr/>
      </p:nvGrpSpPr>
      <p:grpSpPr>
        <a:xfrm>
          <a:off x="0" y="0"/>
          <a:ext cx="0" cy="0"/>
          <a:chOff x="0" y="0"/>
          <a:chExt cx="0" cy="0"/>
        </a:xfrm>
      </p:grpSpPr>
      <p:sp>
        <p:nvSpPr>
          <p:cNvPr id="32" name="Google Shape;32;p10"/>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10"/>
          <p:cNvSpPr txBox="1">
            <a:spLocks noGrp="1"/>
          </p:cNvSpPr>
          <p:nvPr>
            <p:ph type="subTitle" idx="1"/>
          </p:nvPr>
        </p:nvSpPr>
        <p:spPr>
          <a:xfrm>
            <a:off x="457200" y="1604520"/>
            <a:ext cx="8229240" cy="397728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34"/>
        <p:cNvGrpSpPr/>
        <p:nvPr/>
      </p:nvGrpSpPr>
      <p:grpSpPr>
        <a:xfrm>
          <a:off x="0" y="0"/>
          <a:ext cx="0" cy="0"/>
          <a:chOff x="0" y="0"/>
          <a:chExt cx="0" cy="0"/>
        </a:xfrm>
      </p:grpSpPr>
      <p:sp>
        <p:nvSpPr>
          <p:cNvPr id="35" name="Google Shape;35;p11"/>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11"/>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37"/>
        <p:cNvGrpSpPr/>
        <p:nvPr/>
      </p:nvGrpSpPr>
      <p:grpSpPr>
        <a:xfrm>
          <a:off x="0" y="0"/>
          <a:ext cx="0" cy="0"/>
          <a:chOff x="0" y="0"/>
          <a:chExt cx="0" cy="0"/>
        </a:xfrm>
      </p:grpSpPr>
      <p:sp>
        <p:nvSpPr>
          <p:cNvPr id="38" name="Google Shape;38;p12"/>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12"/>
          <p:cNvSpPr txBox="1">
            <a:spLocks noGrp="1"/>
          </p:cNvSpPr>
          <p:nvPr>
            <p:ph type="body" idx="1"/>
          </p:nvPr>
        </p:nvSpPr>
        <p:spPr>
          <a:xfrm>
            <a:off x="45720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2"/>
          <p:cNvSpPr txBox="1">
            <a:spLocks noGrp="1"/>
          </p:cNvSpPr>
          <p:nvPr>
            <p:ph type="body" idx="2"/>
          </p:nvPr>
        </p:nvSpPr>
        <p:spPr>
          <a:xfrm>
            <a:off x="467424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1"/>
        <p:cNvGrpSpPr/>
        <p:nvPr/>
      </p:nvGrpSpPr>
      <p:grpSpPr>
        <a:xfrm>
          <a:off x="0" y="0"/>
          <a:ext cx="0" cy="0"/>
          <a:chOff x="0" y="0"/>
          <a:chExt cx="0" cy="0"/>
        </a:xfrm>
      </p:grpSpPr>
      <p:sp>
        <p:nvSpPr>
          <p:cNvPr id="42" name="Google Shape;42;p13"/>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43"/>
        <p:cNvGrpSpPr/>
        <p:nvPr/>
      </p:nvGrpSpPr>
      <p:grpSpPr>
        <a:xfrm>
          <a:off x="0" y="0"/>
          <a:ext cx="0" cy="0"/>
          <a:chOff x="0" y="0"/>
          <a:chExt cx="0" cy="0"/>
        </a:xfrm>
      </p:grpSpPr>
      <p:sp>
        <p:nvSpPr>
          <p:cNvPr id="44" name="Google Shape;44;p14"/>
          <p:cNvSpPr txBox="1">
            <a:spLocks noGrp="1"/>
          </p:cNvSpPr>
          <p:nvPr>
            <p:ph type="subTitle" idx="1"/>
          </p:nvPr>
        </p:nvSpPr>
        <p:spPr>
          <a:xfrm>
            <a:off x="0" y="0"/>
            <a:ext cx="5486040" cy="423828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45"/>
        <p:cNvGrpSpPr/>
        <p:nvPr/>
      </p:nvGrpSpPr>
      <p:grpSpPr>
        <a:xfrm>
          <a:off x="0" y="0"/>
          <a:ext cx="0" cy="0"/>
          <a:chOff x="0" y="0"/>
          <a:chExt cx="0" cy="0"/>
        </a:xfrm>
      </p:grpSpPr>
      <p:sp>
        <p:nvSpPr>
          <p:cNvPr id="46" name="Google Shape;46;p15"/>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15"/>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15"/>
          <p:cNvSpPr txBox="1">
            <a:spLocks noGrp="1"/>
          </p:cNvSpPr>
          <p:nvPr>
            <p:ph type="body" idx="2"/>
          </p:nvPr>
        </p:nvSpPr>
        <p:spPr>
          <a:xfrm>
            <a:off x="467424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15"/>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50"/>
        <p:cNvGrpSpPr/>
        <p:nvPr/>
      </p:nvGrpSpPr>
      <p:grpSpPr>
        <a:xfrm>
          <a:off x="0" y="0"/>
          <a:ext cx="0" cy="0"/>
          <a:chOff x="0" y="0"/>
          <a:chExt cx="0" cy="0"/>
        </a:xfrm>
      </p:grpSpPr>
      <p:sp>
        <p:nvSpPr>
          <p:cNvPr id="51" name="Google Shape;51;p16"/>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16"/>
          <p:cNvSpPr txBox="1">
            <a:spLocks noGrp="1"/>
          </p:cNvSpPr>
          <p:nvPr>
            <p:ph type="body" idx="1"/>
          </p:nvPr>
        </p:nvSpPr>
        <p:spPr>
          <a:xfrm>
            <a:off x="45720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16"/>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16"/>
          <p:cNvSpPr txBox="1">
            <a:spLocks noGrp="1"/>
          </p:cNvSpPr>
          <p:nvPr>
            <p:ph type="body" idx="3"/>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55"/>
        <p:cNvGrpSpPr/>
        <p:nvPr/>
      </p:nvGrpSpPr>
      <p:grpSpPr>
        <a:xfrm>
          <a:off x="0" y="0"/>
          <a:ext cx="0" cy="0"/>
          <a:chOff x="0" y="0"/>
          <a:chExt cx="0" cy="0"/>
        </a:xfrm>
      </p:grpSpPr>
      <p:sp>
        <p:nvSpPr>
          <p:cNvPr id="56" name="Google Shape;56;p17"/>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17"/>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17"/>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7"/>
          <p:cNvSpPr txBox="1">
            <a:spLocks noGrp="1"/>
          </p:cNvSpPr>
          <p:nvPr>
            <p:ph type="body" idx="3"/>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60"/>
        <p:cNvGrpSpPr/>
        <p:nvPr/>
      </p:nvGrpSpPr>
      <p:grpSpPr>
        <a:xfrm>
          <a:off x="0" y="0"/>
          <a:ext cx="0" cy="0"/>
          <a:chOff x="0" y="0"/>
          <a:chExt cx="0" cy="0"/>
        </a:xfrm>
      </p:grpSpPr>
      <p:sp>
        <p:nvSpPr>
          <p:cNvPr id="61" name="Google Shape;61;p18"/>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18"/>
          <p:cNvSpPr txBox="1">
            <a:spLocks noGrp="1"/>
          </p:cNvSpPr>
          <p:nvPr>
            <p:ph type="body" idx="1"/>
          </p:nvPr>
        </p:nvSpPr>
        <p:spPr>
          <a:xfrm>
            <a:off x="457200" y="160452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3" name="Google Shape;63;p18"/>
          <p:cNvSpPr txBox="1">
            <a:spLocks noGrp="1"/>
          </p:cNvSpPr>
          <p:nvPr>
            <p:ph type="body" idx="2"/>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64"/>
        <p:cNvGrpSpPr/>
        <p:nvPr/>
      </p:nvGrpSpPr>
      <p:grpSpPr>
        <a:xfrm>
          <a:off x="0" y="0"/>
          <a:ext cx="0" cy="0"/>
          <a:chOff x="0" y="0"/>
          <a:chExt cx="0" cy="0"/>
        </a:xfrm>
      </p:grpSpPr>
      <p:sp>
        <p:nvSpPr>
          <p:cNvPr id="65" name="Google Shape;65;p19"/>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19"/>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19"/>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8" name="Google Shape;68;p19"/>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19"/>
          <p:cNvSpPr txBox="1">
            <a:spLocks noGrp="1"/>
          </p:cNvSpPr>
          <p:nvPr>
            <p:ph type="body" idx="4"/>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70"/>
        <p:cNvGrpSpPr/>
        <p:nvPr/>
      </p:nvGrpSpPr>
      <p:grpSpPr>
        <a:xfrm>
          <a:off x="0" y="0"/>
          <a:ext cx="0" cy="0"/>
          <a:chOff x="0" y="0"/>
          <a:chExt cx="0" cy="0"/>
        </a:xfrm>
      </p:grpSpPr>
      <p:sp>
        <p:nvSpPr>
          <p:cNvPr id="71" name="Google Shape;71;p20"/>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20"/>
          <p:cNvSpPr txBox="1">
            <a:spLocks noGrp="1"/>
          </p:cNvSpPr>
          <p:nvPr>
            <p:ph type="body" idx="1"/>
          </p:nvPr>
        </p:nvSpPr>
        <p:spPr>
          <a:xfrm>
            <a:off x="45720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20"/>
          <p:cNvSpPr txBox="1">
            <a:spLocks noGrp="1"/>
          </p:cNvSpPr>
          <p:nvPr>
            <p:ph type="body" idx="2"/>
          </p:nvPr>
        </p:nvSpPr>
        <p:spPr>
          <a:xfrm>
            <a:off x="323964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20"/>
          <p:cNvSpPr txBox="1">
            <a:spLocks noGrp="1"/>
          </p:cNvSpPr>
          <p:nvPr>
            <p:ph type="body" idx="3"/>
          </p:nvPr>
        </p:nvSpPr>
        <p:spPr>
          <a:xfrm>
            <a:off x="602208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0"/>
          <p:cNvSpPr txBox="1">
            <a:spLocks noGrp="1"/>
          </p:cNvSpPr>
          <p:nvPr>
            <p:ph type="body" idx="4"/>
          </p:nvPr>
        </p:nvSpPr>
        <p:spPr>
          <a:xfrm>
            <a:off x="45720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20"/>
          <p:cNvSpPr txBox="1">
            <a:spLocks noGrp="1"/>
          </p:cNvSpPr>
          <p:nvPr>
            <p:ph type="body" idx="5"/>
          </p:nvPr>
        </p:nvSpPr>
        <p:spPr>
          <a:xfrm>
            <a:off x="323964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20"/>
          <p:cNvSpPr txBox="1">
            <a:spLocks noGrp="1"/>
          </p:cNvSpPr>
          <p:nvPr>
            <p:ph type="body" idx="6"/>
          </p:nvPr>
        </p:nvSpPr>
        <p:spPr>
          <a:xfrm>
            <a:off x="602208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p8"/>
          <p:cNvSpPr/>
          <p:nvPr/>
        </p:nvSpPr>
        <p:spPr>
          <a:xfrm>
            <a:off x="0" y="0"/>
            <a:ext cx="9143640" cy="837720"/>
          </a:xfrm>
          <a:prstGeom prst="rect">
            <a:avLst/>
          </a:prstGeom>
          <a:solidFill>
            <a:srgbClr val="FF3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8"/>
          <p:cNvSpPr/>
          <p:nvPr/>
        </p:nvSpPr>
        <p:spPr>
          <a:xfrm rot="10800000" flipH="1">
            <a:off x="0" y="6704640"/>
            <a:ext cx="9143640" cy="197640"/>
          </a:xfrm>
          <a:prstGeom prst="rect">
            <a:avLst/>
          </a:pr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 name="Google Shape;12;p8" descr="LOGO.gif"/>
          <p:cNvPicPr preferRelativeResize="0"/>
          <p:nvPr/>
        </p:nvPicPr>
        <p:blipFill rotWithShape="1">
          <a:blip r:embed="rId14">
            <a:alphaModFix/>
          </a:blip>
          <a:srcRect b="10718"/>
          <a:stretch/>
        </p:blipFill>
        <p:spPr>
          <a:xfrm>
            <a:off x="6553080" y="228600"/>
            <a:ext cx="2057040" cy="634680"/>
          </a:xfrm>
          <a:prstGeom prst="rect">
            <a:avLst/>
          </a:prstGeom>
          <a:noFill/>
          <a:ln>
            <a:noFill/>
          </a:ln>
        </p:spPr>
      </p:pic>
      <p:pic>
        <p:nvPicPr>
          <p:cNvPr id="13" name="Google Shape;13;p8" descr="LOGO.gif"/>
          <p:cNvPicPr preferRelativeResize="0"/>
          <p:nvPr/>
        </p:nvPicPr>
        <p:blipFill rotWithShape="1">
          <a:blip r:embed="rId14">
            <a:alphaModFix/>
          </a:blip>
          <a:srcRect b="10718"/>
          <a:stretch/>
        </p:blipFill>
        <p:spPr>
          <a:xfrm>
            <a:off x="6553080" y="228600"/>
            <a:ext cx="2057040" cy="634680"/>
          </a:xfrm>
          <a:prstGeom prst="rect">
            <a:avLst/>
          </a:prstGeom>
          <a:noFill/>
          <a:ln>
            <a:noFill/>
          </a:ln>
        </p:spPr>
      </p:pic>
      <p:grpSp>
        <p:nvGrpSpPr>
          <p:cNvPr id="14" name="Google Shape;14;p8"/>
          <p:cNvGrpSpPr/>
          <p:nvPr/>
        </p:nvGrpSpPr>
        <p:grpSpPr>
          <a:xfrm>
            <a:off x="6146640" y="0"/>
            <a:ext cx="2997000" cy="875880"/>
            <a:chOff x="6146640" y="0"/>
            <a:chExt cx="2997000" cy="875880"/>
          </a:xfrm>
        </p:grpSpPr>
        <p:sp>
          <p:nvSpPr>
            <p:cNvPr id="15" name="Google Shape;15;p8"/>
            <p:cNvSpPr/>
            <p:nvPr/>
          </p:nvSpPr>
          <p:spPr>
            <a:xfrm>
              <a:off x="6146640" y="0"/>
              <a:ext cx="2997000" cy="837720"/>
            </a:xfrm>
            <a:prstGeom prst="rect">
              <a:avLst/>
            </a:prstGeom>
            <a:solidFill>
              <a:srgbClr val="FF3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 name="Google Shape;16;p8" descr="LOGO.gif"/>
            <p:cNvPicPr preferRelativeResize="0"/>
            <p:nvPr/>
          </p:nvPicPr>
          <p:blipFill rotWithShape="1">
            <a:blip r:embed="rId14">
              <a:alphaModFix/>
            </a:blip>
            <a:srcRect b="10718"/>
            <a:stretch/>
          </p:blipFill>
          <p:spPr>
            <a:xfrm>
              <a:off x="6553080" y="228600"/>
              <a:ext cx="2057040" cy="634680"/>
            </a:xfrm>
            <a:prstGeom prst="rect">
              <a:avLst/>
            </a:prstGeom>
            <a:noFill/>
            <a:ln>
              <a:noFill/>
            </a:ln>
          </p:spPr>
        </p:pic>
        <p:sp>
          <p:nvSpPr>
            <p:cNvPr id="17" name="Google Shape;17;p8"/>
            <p:cNvSpPr/>
            <p:nvPr/>
          </p:nvSpPr>
          <p:spPr>
            <a:xfrm>
              <a:off x="6527880" y="190440"/>
              <a:ext cx="2076120" cy="68544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8" name="Google Shape;18;p8" descr="logo.jpg"/>
          <p:cNvPicPr preferRelativeResize="0"/>
          <p:nvPr/>
        </p:nvPicPr>
        <p:blipFill rotWithShape="1">
          <a:blip r:embed="rId15">
            <a:alphaModFix/>
          </a:blip>
          <a:srcRect/>
          <a:stretch/>
        </p:blipFill>
        <p:spPr>
          <a:xfrm>
            <a:off x="6553080" y="228600"/>
            <a:ext cx="1920600" cy="609120"/>
          </a:xfrm>
          <a:prstGeom prst="rect">
            <a:avLst/>
          </a:prstGeom>
          <a:noFill/>
          <a:ln>
            <a:noFill/>
          </a:ln>
        </p:spPr>
      </p:pic>
      <p:pic>
        <p:nvPicPr>
          <p:cNvPr id="19" name="Google Shape;19;p8" descr="LOGO.gif"/>
          <p:cNvPicPr preferRelativeResize="0"/>
          <p:nvPr/>
        </p:nvPicPr>
        <p:blipFill rotWithShape="1">
          <a:blip r:embed="rId14">
            <a:alphaModFix/>
          </a:blip>
          <a:srcRect b="10718"/>
          <a:stretch/>
        </p:blipFill>
        <p:spPr>
          <a:xfrm>
            <a:off x="6553080" y="228600"/>
            <a:ext cx="2057040" cy="634680"/>
          </a:xfrm>
          <a:prstGeom prst="rect">
            <a:avLst/>
          </a:prstGeom>
          <a:noFill/>
          <a:ln>
            <a:noFill/>
          </a:ln>
        </p:spPr>
      </p:pic>
      <p:grpSp>
        <p:nvGrpSpPr>
          <p:cNvPr id="20" name="Google Shape;20;p8"/>
          <p:cNvGrpSpPr/>
          <p:nvPr/>
        </p:nvGrpSpPr>
        <p:grpSpPr>
          <a:xfrm>
            <a:off x="6146640" y="0"/>
            <a:ext cx="2997000" cy="875880"/>
            <a:chOff x="6146640" y="0"/>
            <a:chExt cx="2997000" cy="875880"/>
          </a:xfrm>
        </p:grpSpPr>
        <p:sp>
          <p:nvSpPr>
            <p:cNvPr id="21" name="Google Shape;21;p8"/>
            <p:cNvSpPr/>
            <p:nvPr/>
          </p:nvSpPr>
          <p:spPr>
            <a:xfrm>
              <a:off x="6146640" y="0"/>
              <a:ext cx="2997000" cy="837720"/>
            </a:xfrm>
            <a:prstGeom prst="rect">
              <a:avLst/>
            </a:prstGeom>
            <a:solidFill>
              <a:srgbClr val="FF3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2" name="Google Shape;22;p8" descr="LOGO.gif"/>
            <p:cNvPicPr preferRelativeResize="0"/>
            <p:nvPr/>
          </p:nvPicPr>
          <p:blipFill rotWithShape="1">
            <a:blip r:embed="rId14">
              <a:alphaModFix/>
            </a:blip>
            <a:srcRect b="10718"/>
            <a:stretch/>
          </p:blipFill>
          <p:spPr>
            <a:xfrm>
              <a:off x="6553080" y="228600"/>
              <a:ext cx="2057040" cy="634680"/>
            </a:xfrm>
            <a:prstGeom prst="rect">
              <a:avLst/>
            </a:prstGeom>
            <a:noFill/>
            <a:ln>
              <a:noFill/>
            </a:ln>
          </p:spPr>
        </p:pic>
        <p:sp>
          <p:nvSpPr>
            <p:cNvPr id="23" name="Google Shape;23;p8"/>
            <p:cNvSpPr/>
            <p:nvPr/>
          </p:nvSpPr>
          <p:spPr>
            <a:xfrm>
              <a:off x="6527880" y="190440"/>
              <a:ext cx="2076120" cy="68544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4" name="Google Shape;24;p8" descr="logo.jpg"/>
          <p:cNvPicPr preferRelativeResize="0"/>
          <p:nvPr/>
        </p:nvPicPr>
        <p:blipFill rotWithShape="1">
          <a:blip r:embed="rId15">
            <a:alphaModFix/>
          </a:blip>
          <a:srcRect/>
          <a:stretch/>
        </p:blipFill>
        <p:spPr>
          <a:xfrm>
            <a:off x="6553080" y="228600"/>
            <a:ext cx="1920600" cy="609120"/>
          </a:xfrm>
          <a:prstGeom prst="rect">
            <a:avLst/>
          </a:prstGeom>
          <a:noFill/>
          <a:ln>
            <a:noFill/>
          </a:ln>
        </p:spPr>
      </p:pic>
      <p:sp>
        <p:nvSpPr>
          <p:cNvPr id="25" name="Google Shape;25;p8"/>
          <p:cNvSpPr txBox="1">
            <a:spLocks noGrp="1"/>
          </p:cNvSpPr>
          <p:nvPr>
            <p:ph type="title"/>
          </p:nvPr>
        </p:nvSpPr>
        <p:spPr>
          <a:xfrm>
            <a:off x="0" y="0"/>
            <a:ext cx="6476760" cy="83772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6" name="Google Shape;26;p8"/>
          <p:cNvSpPr txBox="1">
            <a:spLocks noGrp="1"/>
          </p:cNvSpPr>
          <p:nvPr>
            <p:ph type="body" idx="1"/>
          </p:nvPr>
        </p:nvSpPr>
        <p:spPr>
          <a:xfrm>
            <a:off x="457200" y="1371600"/>
            <a:ext cx="8229240" cy="452556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7" name="Google Shape;27;p8"/>
          <p:cNvSpPr txBox="1">
            <a:spLocks noGrp="1"/>
          </p:cNvSpPr>
          <p:nvPr>
            <p:ph type="dt" idx="10"/>
          </p:nvPr>
        </p:nvSpPr>
        <p:spPr>
          <a:xfrm>
            <a:off x="457200" y="6356520"/>
            <a:ext cx="2133360" cy="36468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8" name="Google Shape;28;p8"/>
          <p:cNvSpPr txBox="1">
            <a:spLocks noGrp="1"/>
          </p:cNvSpPr>
          <p:nvPr>
            <p:ph type="ftr" idx="11"/>
          </p:nvPr>
        </p:nvSpPr>
        <p:spPr>
          <a:xfrm>
            <a:off x="3124080" y="6356520"/>
            <a:ext cx="2895120" cy="36468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9" name="Google Shape;29;p8"/>
          <p:cNvSpPr txBox="1">
            <a:spLocks noGrp="1"/>
          </p:cNvSpPr>
          <p:nvPr>
            <p:ph type="sldNum" idx="12"/>
          </p:nvPr>
        </p:nvSpPr>
        <p:spPr>
          <a:xfrm>
            <a:off x="6553080" y="6356520"/>
            <a:ext cx="2133360" cy="36468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chemeClr val="dk1"/>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p:nvPr/>
        </p:nvSpPr>
        <p:spPr>
          <a:xfrm>
            <a:off x="0" y="840631"/>
            <a:ext cx="9144000" cy="5930283"/>
          </a:xfrm>
          <a:prstGeom prst="rect">
            <a:avLst/>
          </a:prstGeom>
          <a:noFill/>
          <a:ln>
            <a:noFill/>
          </a:ln>
        </p:spPr>
        <p:txBody>
          <a:bodyPr spcFirstLastPara="1" wrap="square" lIns="91425" tIns="45700" rIns="91425" bIns="45700" anchor="t" anchorCtr="0">
            <a:noAutofit/>
          </a:bodyPr>
          <a:lstStyle/>
          <a:p>
            <a:pPr lvl="0" algn="ctr"/>
            <a:r>
              <a:rPr lang="en-US" sz="1800" b="1" i="0" u="none" strike="noStrike" cap="none" dirty="0">
                <a:solidFill>
                  <a:schemeClr val="dk1"/>
                </a:solidFill>
                <a:latin typeface="Times New Roman"/>
                <a:ea typeface="Times New Roman"/>
                <a:cs typeface="Times New Roman"/>
                <a:sym typeface="Times New Roman"/>
              </a:rPr>
              <a:t>Project Presentation </a:t>
            </a:r>
            <a:r>
              <a:rPr lang="en-US" sz="1800" b="1" i="0" u="none" strike="noStrike" cap="none" dirty="0" err="1">
                <a:solidFill>
                  <a:schemeClr val="dk1"/>
                </a:solidFill>
                <a:latin typeface="Times New Roman"/>
                <a:ea typeface="Times New Roman"/>
                <a:cs typeface="Times New Roman"/>
                <a:sym typeface="Times New Roman"/>
              </a:rPr>
              <a:t>of</a:t>
            </a:r>
            <a:r>
              <a:rPr lang="en-US" sz="1800" b="1" dirty="0" err="1">
                <a:solidFill>
                  <a:schemeClr val="dk1"/>
                </a:solidFill>
                <a:latin typeface="Times New Roman"/>
                <a:ea typeface="Times New Roman"/>
                <a:cs typeface="Times New Roman"/>
                <a:sym typeface="Times New Roman"/>
              </a:rPr>
              <a:t>Industry</a:t>
            </a:r>
            <a:r>
              <a:rPr lang="en-US" sz="1800" b="1" dirty="0">
                <a:solidFill>
                  <a:schemeClr val="dk1"/>
                </a:solidFill>
                <a:latin typeface="Times New Roman"/>
                <a:ea typeface="Times New Roman"/>
                <a:cs typeface="Times New Roman"/>
                <a:sym typeface="Times New Roman"/>
              </a:rPr>
              <a:t> Oriented Hands on Experience (22CS422)</a:t>
            </a:r>
            <a:endParaRPr dirty="0"/>
          </a:p>
          <a:p>
            <a:pPr marL="0" marR="0" lvl="0" indent="0" algn="ctr" rtl="0">
              <a:lnSpc>
                <a:spcPct val="100000"/>
              </a:lnSpc>
              <a:spcBef>
                <a:spcPts val="400"/>
              </a:spcBef>
              <a:spcAft>
                <a:spcPts val="0"/>
              </a:spcAft>
              <a:buNone/>
            </a:pPr>
            <a:r>
              <a:rPr lang="en-US" sz="2000" b="0" i="0" u="none" strike="noStrike" cap="none" dirty="0">
                <a:solidFill>
                  <a:schemeClr val="dk1"/>
                </a:solidFill>
                <a:latin typeface="Times New Roman"/>
                <a:ea typeface="Times New Roman"/>
                <a:cs typeface="Times New Roman"/>
                <a:sym typeface="Times New Roman"/>
              </a:rPr>
              <a:t>On</a:t>
            </a:r>
            <a:endParaRPr dirty="0"/>
          </a:p>
          <a:p>
            <a:pPr marL="0" marR="0" lvl="0" indent="0" algn="ctr" rtl="0">
              <a:lnSpc>
                <a:spcPct val="100000"/>
              </a:lnSpc>
              <a:spcBef>
                <a:spcPts val="400"/>
              </a:spcBef>
              <a:spcAft>
                <a:spcPts val="0"/>
              </a:spcAft>
              <a:buNone/>
            </a:pPr>
            <a:r>
              <a:rPr lang="en-US" sz="3600" b="1"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Predicting student Depression</a:t>
            </a:r>
            <a:endParaRPr sz="3600" b="1"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ctr" rtl="0">
              <a:lnSpc>
                <a:spcPct val="100000"/>
              </a:lnSpc>
              <a:spcBef>
                <a:spcPts val="400"/>
              </a:spcBef>
              <a:spcAft>
                <a:spcPts val="0"/>
              </a:spcAft>
              <a:buNone/>
            </a:pPr>
            <a:r>
              <a:rPr lang="en-US" sz="3600" b="1"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With machine learning</a:t>
            </a:r>
            <a:br>
              <a:rPr lang="en-US" sz="2000" b="0" i="0" u="none" strike="noStrike" cap="none" dirty="0">
                <a:solidFill>
                  <a:srgbClr val="000000"/>
                </a:solidFill>
                <a:latin typeface="Times New Roman"/>
                <a:ea typeface="Times New Roman"/>
                <a:cs typeface="Times New Roman"/>
                <a:sym typeface="Times New Roman"/>
              </a:rPr>
            </a:br>
            <a:endParaRPr lang="en-US" sz="2000" b="0" i="0" u="none" strike="noStrike" cap="none" dirty="0">
              <a:solidFill>
                <a:srgbClr val="00000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None/>
            </a:pPr>
            <a:r>
              <a:rPr lang="en-US" sz="2000" dirty="0">
                <a:latin typeface="Times New Roman"/>
                <a:ea typeface="Times New Roman"/>
                <a:cs typeface="Times New Roman"/>
                <a:sym typeface="Times New Roman"/>
              </a:rPr>
              <a:t>S</a:t>
            </a:r>
            <a:r>
              <a:rPr lang="en-US" sz="2000" b="0" i="0" u="none" strike="noStrike" cap="none" dirty="0">
                <a:solidFill>
                  <a:srgbClr val="000000"/>
                </a:solidFill>
                <a:latin typeface="Times New Roman"/>
                <a:ea typeface="Times New Roman"/>
                <a:cs typeface="Times New Roman"/>
                <a:sym typeface="Times New Roman"/>
              </a:rPr>
              <a:t>erena Balyan , </a:t>
            </a:r>
            <a:r>
              <a:rPr lang="en-US" sz="2000" dirty="0">
                <a:latin typeface="Times New Roman"/>
                <a:ea typeface="Times New Roman"/>
                <a:cs typeface="Times New Roman"/>
                <a:sym typeface="Times New Roman"/>
              </a:rPr>
              <a:t>Pranshu , Srishti Madaan , Ishan Sharma </a:t>
            </a:r>
            <a:endParaRPr dirty="0"/>
          </a:p>
          <a:p>
            <a:pPr marL="0" marR="0" lvl="0" indent="0" algn="ctr" rtl="0">
              <a:lnSpc>
                <a:spcPct val="100000"/>
              </a:lnSpc>
              <a:spcBef>
                <a:spcPts val="400"/>
              </a:spcBef>
              <a:spcAft>
                <a:spcPts val="0"/>
              </a:spcAft>
              <a:buNone/>
            </a:pPr>
            <a:r>
              <a:rPr lang="en-US" sz="2000" b="0" i="0" u="none" strike="noStrike" cap="none" dirty="0">
                <a:solidFill>
                  <a:srgbClr val="000000"/>
                </a:solidFill>
                <a:latin typeface="Times New Roman"/>
                <a:ea typeface="Times New Roman"/>
                <a:cs typeface="Times New Roman"/>
                <a:sym typeface="Times New Roman"/>
              </a:rPr>
              <a:t>2210992281,2210992065, 2210992407, 2210990420</a:t>
            </a:r>
            <a:endParaRPr dirty="0"/>
          </a:p>
          <a:p>
            <a:pPr marL="0" marR="0" lvl="0" indent="0" algn="ctr" rtl="0">
              <a:lnSpc>
                <a:spcPct val="100000"/>
              </a:lnSpc>
              <a:spcBef>
                <a:spcPts val="400"/>
              </a:spcBef>
              <a:spcAft>
                <a:spcPts val="0"/>
              </a:spcAft>
              <a:buNone/>
            </a:pPr>
            <a:endParaRPr sz="2000" b="0" i="0" u="none" strike="noStrike" cap="none" dirty="0">
              <a:solidFill>
                <a:srgbClr val="00000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None/>
            </a:pPr>
            <a:r>
              <a:rPr lang="en-US" sz="2000" b="0" i="0" u="none" strike="noStrike" cap="none" dirty="0">
                <a:solidFill>
                  <a:srgbClr val="000000"/>
                </a:solidFill>
                <a:latin typeface="Times New Roman"/>
                <a:ea typeface="Times New Roman"/>
                <a:cs typeface="Times New Roman"/>
                <a:sym typeface="Times New Roman"/>
              </a:rPr>
              <a:t>Supervised By</a:t>
            </a:r>
            <a:endParaRPr dirty="0"/>
          </a:p>
          <a:p>
            <a:pPr marL="0" marR="0" lvl="0" indent="0" algn="ctr" rtl="0">
              <a:lnSpc>
                <a:spcPct val="100000"/>
              </a:lnSpc>
              <a:spcBef>
                <a:spcPts val="400"/>
              </a:spcBef>
              <a:spcAft>
                <a:spcPts val="0"/>
              </a:spcAft>
              <a:buNone/>
            </a:pPr>
            <a:r>
              <a:rPr lang="en-US" sz="2000" dirty="0">
                <a:latin typeface="Times New Roman"/>
                <a:ea typeface="Times New Roman"/>
                <a:cs typeface="Times New Roman"/>
                <a:sym typeface="Times New Roman"/>
              </a:rPr>
              <a:t>Dr. Gurpreet Singh </a:t>
            </a:r>
            <a:endParaRPr sz="2000" b="0" i="0" u="none" strike="noStrike" cap="none" dirty="0">
              <a:solidFill>
                <a:srgbClr val="00000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None/>
            </a:pPr>
            <a:endParaRPr sz="2000" b="0" i="0" u="none" strike="noStrike" cap="none" dirty="0">
              <a:solidFill>
                <a:schemeClr val="dk1"/>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None/>
            </a:pPr>
            <a:endParaRPr sz="2000" b="0" i="0" u="none" strike="noStrike" cap="none" dirty="0">
              <a:solidFill>
                <a:schemeClr val="dk1"/>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None/>
            </a:pPr>
            <a:endParaRPr sz="2000" b="0" i="0" u="none" strike="noStrike" cap="none" dirty="0">
              <a:solidFill>
                <a:schemeClr val="dk1"/>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None/>
            </a:pPr>
            <a:r>
              <a:rPr lang="en-US" sz="2400" b="0" i="0" u="none" strike="noStrike" cap="none" dirty="0">
                <a:solidFill>
                  <a:schemeClr val="dk1"/>
                </a:solidFill>
                <a:latin typeface="Times New Roman"/>
                <a:ea typeface="Times New Roman"/>
                <a:cs typeface="Times New Roman"/>
                <a:sym typeface="Times New Roman"/>
              </a:rPr>
              <a:t>Department of Computer Science and Engineering, </a:t>
            </a:r>
            <a:endParaRPr dirty="0"/>
          </a:p>
          <a:p>
            <a:pPr marL="0" marR="0" lvl="0" indent="0" algn="ctr" rtl="0">
              <a:lnSpc>
                <a:spcPct val="100000"/>
              </a:lnSpc>
              <a:spcBef>
                <a:spcPts val="400"/>
              </a:spcBef>
              <a:spcAft>
                <a:spcPts val="0"/>
              </a:spcAft>
              <a:buNone/>
            </a:pPr>
            <a:r>
              <a:rPr lang="en-US" sz="2400" b="0" i="0" u="none" strike="noStrike" cap="none" dirty="0">
                <a:solidFill>
                  <a:schemeClr val="dk1"/>
                </a:solidFill>
                <a:latin typeface="Times New Roman"/>
                <a:ea typeface="Times New Roman"/>
                <a:cs typeface="Times New Roman"/>
                <a:sym typeface="Times New Roman"/>
              </a:rPr>
              <a:t>Chitkara University, Punjab</a:t>
            </a:r>
            <a:endParaRPr dirty="0"/>
          </a:p>
          <a:p>
            <a:pPr marL="0" marR="0" lvl="0" indent="0" algn="ctr" rtl="0">
              <a:lnSpc>
                <a:spcPct val="150000"/>
              </a:lnSpc>
              <a:spcBef>
                <a:spcPts val="400"/>
              </a:spcBef>
              <a:spcAft>
                <a:spcPts val="0"/>
              </a:spcAft>
              <a:buNone/>
            </a:pPr>
            <a:endParaRPr sz="20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641"/>
              </a:spcBef>
              <a:spcAft>
                <a:spcPts val="0"/>
              </a:spcAft>
              <a:buNone/>
            </a:pPr>
            <a:endParaRPr sz="2000" b="0" i="0" u="none" strike="noStrike" cap="none" dirty="0">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2"/>
          <p:cNvSpPr txBox="1"/>
          <p:nvPr/>
        </p:nvSpPr>
        <p:spPr>
          <a:xfrm>
            <a:off x="0" y="0"/>
            <a:ext cx="6476760" cy="83772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3200" b="0" i="0" u="none" strike="noStrike" cap="none">
                <a:solidFill>
                  <a:schemeClr val="dk1"/>
                </a:solidFill>
                <a:latin typeface="Times New Roman"/>
                <a:ea typeface="Times New Roman"/>
                <a:cs typeface="Times New Roman"/>
                <a:sym typeface="Times New Roman"/>
              </a:rPr>
              <a:t>Introduction</a:t>
            </a:r>
            <a:endParaRPr sz="3000" b="0" i="0" u="none" strike="noStrike" cap="none">
              <a:solidFill>
                <a:srgbClr val="000000"/>
              </a:solidFill>
              <a:latin typeface="Times New Roman"/>
              <a:ea typeface="Times New Roman"/>
              <a:cs typeface="Times New Roman"/>
              <a:sym typeface="Times New Roman"/>
            </a:endParaRPr>
          </a:p>
        </p:txBody>
      </p:sp>
      <p:sp>
        <p:nvSpPr>
          <p:cNvPr id="90" name="Google Shape;90;p2"/>
          <p:cNvSpPr txBox="1"/>
          <p:nvPr/>
        </p:nvSpPr>
        <p:spPr>
          <a:xfrm>
            <a:off x="6553080" y="6356520"/>
            <a:ext cx="2133360" cy="36468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1" i="0" u="none" strike="noStrike" cap="none">
                <a:solidFill>
                  <a:srgbClr val="000000"/>
                </a:solidFill>
                <a:latin typeface="Calibri"/>
                <a:ea typeface="Calibri"/>
                <a:cs typeface="Calibri"/>
                <a:sym typeface="Calibri"/>
              </a:rPr>
              <a:t>2</a:t>
            </a:fld>
            <a:endParaRPr sz="1200" b="0" i="0" u="none" strike="noStrike" cap="none">
              <a:solidFill>
                <a:schemeClr val="dk1"/>
              </a:solidFill>
              <a:latin typeface="Times New Roman"/>
              <a:ea typeface="Times New Roman"/>
              <a:cs typeface="Times New Roman"/>
              <a:sym typeface="Times New Roman"/>
            </a:endParaRPr>
          </a:p>
        </p:txBody>
      </p:sp>
      <p:sp>
        <p:nvSpPr>
          <p:cNvPr id="91" name="Google Shape;91;p2"/>
          <p:cNvSpPr txBox="1"/>
          <p:nvPr/>
        </p:nvSpPr>
        <p:spPr>
          <a:xfrm>
            <a:off x="0" y="837720"/>
            <a:ext cx="9002728" cy="51982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Depression is a common and serious mental health disorder that negatively affects how a person feels, thinks, and acts. Characterized by persistent sadness, loss of interest in activities once enjoyed, and a range of emotional and physical problems, depression can significantly impair daily functioning. It affects people of all ages and backgrounds and is one of the leading causes of disability worldwide.</a:t>
            </a:r>
            <a:endParaRPr/>
          </a:p>
          <a:p>
            <a:pPr marL="0" marR="0" lvl="0" indent="0" algn="l" rtl="0">
              <a:spcBef>
                <a:spcPts val="0"/>
              </a:spcBef>
              <a:spcAft>
                <a:spcPts val="0"/>
              </a:spcAft>
              <a:buClr>
                <a:schemeClr val="dk1"/>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Depression is more than just a temporary feeling of sadness or a response to life's challenges. It involves complex genetic, biological, environmental, and psychological interactions. Symptoms can include changes in appetite, sleep disturbances, fatigue, difficulty concentrating, feelings of worthlessness or guilt, and, in severe cases, thoughts of death or suicide.</a:t>
            </a:r>
            <a:endParaRPr/>
          </a:p>
          <a:p>
            <a:pPr marL="0" marR="0" lvl="0" indent="0" algn="l" rtl="0">
              <a:spcBef>
                <a:spcPts val="0"/>
              </a:spcBef>
              <a:spcAft>
                <a:spcPts val="0"/>
              </a:spcAft>
              <a:buClr>
                <a:schemeClr val="dk1"/>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1800" b="0" i="0" u="none" strike="noStrike" cap="none">
                <a:solidFill>
                  <a:schemeClr val="dk1"/>
                </a:solidFill>
                <a:latin typeface="Times New Roman"/>
                <a:ea typeface="Times New Roman"/>
                <a:cs typeface="Times New Roman"/>
                <a:sym typeface="Times New Roman"/>
              </a:rPr>
              <a:t>Timely diagnosis and appropriate treatment—often involving psychotherapy, medication, or a combination—are essential for managing depression effectively. Increasing awareness and reducing the stigma associated with mental illness are critical steps toward supporting individuals suffering from depression.</a:t>
            </a:r>
            <a:endParaRPr/>
          </a:p>
          <a:p>
            <a:pPr marL="0" marR="0" lvl="0" indent="0" algn="l" rtl="0">
              <a:lnSpc>
                <a:spcPct val="150000"/>
              </a:lnSpc>
              <a:spcBef>
                <a:spcPts val="400"/>
              </a:spcBef>
              <a:spcAft>
                <a:spcPts val="0"/>
              </a:spcAft>
              <a:buNone/>
            </a:pPr>
            <a:endParaRPr sz="1800" b="0"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3"/>
          <p:cNvSpPr txBox="1">
            <a:spLocks noGrp="1"/>
          </p:cNvSpPr>
          <p:nvPr>
            <p:ph type="title"/>
          </p:nvPr>
        </p:nvSpPr>
        <p:spPr>
          <a:xfrm>
            <a:off x="130629" y="10526"/>
            <a:ext cx="5486040" cy="91404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4400"/>
              <a:buFont typeface="Times New Roman"/>
              <a:buNone/>
            </a:pPr>
            <a:r>
              <a:rPr lang="en-US">
                <a:latin typeface="Times New Roman"/>
                <a:ea typeface="Times New Roman"/>
                <a:cs typeface="Times New Roman"/>
                <a:sym typeface="Times New Roman"/>
              </a:rPr>
              <a:t>Causes of Depression</a:t>
            </a:r>
            <a:endParaRPr/>
          </a:p>
        </p:txBody>
      </p:sp>
      <p:sp>
        <p:nvSpPr>
          <p:cNvPr id="97" name="Google Shape;97;p3"/>
          <p:cNvSpPr txBox="1">
            <a:spLocks noGrp="1"/>
          </p:cNvSpPr>
          <p:nvPr>
            <p:ph type="subTitle" idx="1"/>
          </p:nvPr>
        </p:nvSpPr>
        <p:spPr>
          <a:xfrm>
            <a:off x="0" y="0"/>
            <a:ext cx="5486040" cy="91404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1800"/>
              <a:buFont typeface="Arial"/>
              <a:buNone/>
            </a:pPr>
            <a:endParaRPr sz="1800" b="1"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800"/>
              <a:buFont typeface="Arial"/>
              <a:buNone/>
            </a:pPr>
            <a:endParaRPr sz="1800" b="1"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800"/>
              <a:buFont typeface="Arial"/>
              <a:buNone/>
            </a:pPr>
            <a:endParaRPr sz="1800" b="1"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800"/>
              <a:buFont typeface="Arial"/>
              <a:buNone/>
            </a:pPr>
            <a:endParaRPr sz="1800" b="1"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800"/>
              <a:buFont typeface="Arial"/>
              <a:buNone/>
            </a:pPr>
            <a:endParaRPr sz="1800" b="1"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800"/>
              <a:buFont typeface="Arial"/>
              <a:buNone/>
            </a:pPr>
            <a:endParaRPr sz="1800" b="1"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800"/>
              <a:buFont typeface="Arial"/>
              <a:buNone/>
            </a:pPr>
            <a:endParaRPr sz="1800" b="1"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800"/>
              <a:buFont typeface="Arial"/>
              <a:buNone/>
            </a:pPr>
            <a:endParaRPr sz="1800" b="1"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800"/>
              <a:buFont typeface="Arial"/>
              <a:buNone/>
            </a:pPr>
            <a:endParaRPr sz="1800" b="1"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800"/>
              <a:buFont typeface="Arial"/>
              <a:buNone/>
            </a:pPr>
            <a:endParaRPr sz="1800" b="1"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800"/>
              <a:buFont typeface="Arial"/>
              <a:buNone/>
            </a:pPr>
            <a:endParaRPr sz="1800" b="1"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800"/>
              <a:buFont typeface="Arial"/>
              <a:buNone/>
            </a:pPr>
            <a:endParaRPr sz="1800" b="1"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800"/>
              <a:buFont typeface="Arial"/>
              <a:buNone/>
            </a:pPr>
            <a:endParaRPr sz="1800" b="1"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800"/>
              <a:buFont typeface="Arial"/>
              <a:buNone/>
            </a:pPr>
            <a:endParaRPr sz="1800" b="1"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800"/>
              <a:buFont typeface="Arial"/>
              <a:buNone/>
            </a:pPr>
            <a:endParaRPr sz="1800" b="1"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800"/>
              <a:buFont typeface="Arial"/>
              <a:buNone/>
            </a:pPr>
            <a:endParaRPr sz="1800" b="1"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800"/>
              <a:buFont typeface="Arial"/>
              <a:buNone/>
            </a:pPr>
            <a:endParaRPr sz="1800" b="1"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800"/>
              <a:buFont typeface="Arial"/>
              <a:buNone/>
            </a:pPr>
            <a:endParaRPr sz="1800" b="1"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800"/>
              <a:buFont typeface="Arial"/>
              <a:buNone/>
            </a:pPr>
            <a:endParaRPr sz="1800" b="1"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800"/>
              <a:buFont typeface="Arial"/>
              <a:buNone/>
            </a:pPr>
            <a:endParaRPr sz="1800" b="1" i="0" u="none" strike="noStrike" cap="none">
              <a:solidFill>
                <a:schemeClr val="dk1"/>
              </a:solidFill>
              <a:latin typeface="Times New Roman"/>
              <a:ea typeface="Times New Roman"/>
              <a:cs typeface="Times New Roman"/>
              <a:sym typeface="Times New Roman"/>
            </a:endParaRPr>
          </a:p>
        </p:txBody>
      </p:sp>
      <p:sp>
        <p:nvSpPr>
          <p:cNvPr id="98" name="Google Shape;98;p3"/>
          <p:cNvSpPr txBox="1"/>
          <p:nvPr/>
        </p:nvSpPr>
        <p:spPr>
          <a:xfrm>
            <a:off x="0" y="827314"/>
            <a:ext cx="8763000" cy="618630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Times New Roman"/>
              <a:buNone/>
            </a:pPr>
            <a:r>
              <a:rPr lang="en-US" sz="1800" b="1">
                <a:solidFill>
                  <a:schemeClr val="dk1"/>
                </a:solidFill>
                <a:latin typeface="Times New Roman"/>
                <a:ea typeface="Times New Roman"/>
                <a:cs typeface="Times New Roman"/>
                <a:sym typeface="Times New Roman"/>
              </a:rPr>
              <a:t>Causes of Depression-</a:t>
            </a:r>
            <a:endParaRPr sz="1800">
              <a:solidFill>
                <a:schemeClr val="dk1"/>
              </a:solidFill>
              <a:latin typeface="Times New Roman"/>
              <a:ea typeface="Times New Roman"/>
              <a:cs typeface="Times New Roman"/>
              <a:sym typeface="Times New Roman"/>
            </a:endParaRPr>
          </a:p>
          <a:p>
            <a:pPr marL="0" marR="0" lvl="0" indent="-114300" algn="l" rtl="0">
              <a:spcBef>
                <a:spcPts val="0"/>
              </a:spcBef>
              <a:spcAft>
                <a:spcPts val="0"/>
              </a:spcAft>
              <a:buClr>
                <a:schemeClr val="dk1"/>
              </a:buClr>
              <a:buSzPts val="1800"/>
              <a:buFont typeface="Arial"/>
              <a:buAutoNum type="arabicPeriod"/>
            </a:pPr>
            <a:r>
              <a:rPr lang="en-US" sz="1800" b="1">
                <a:solidFill>
                  <a:schemeClr val="dk1"/>
                </a:solidFill>
                <a:latin typeface="Times New Roman"/>
                <a:ea typeface="Times New Roman"/>
                <a:cs typeface="Times New Roman"/>
                <a:sym typeface="Times New Roman"/>
              </a:rPr>
              <a:t>Biological Factors</a:t>
            </a:r>
            <a:endParaRPr sz="1800">
              <a:solidFill>
                <a:schemeClr val="dk1"/>
              </a:solidFill>
              <a:latin typeface="Times New Roman"/>
              <a:ea typeface="Times New Roman"/>
              <a:cs typeface="Times New Roman"/>
              <a:sym typeface="Times New Roman"/>
            </a:endParaRPr>
          </a:p>
          <a:p>
            <a:pPr marL="742950" marR="0" lvl="1" indent="-285750" algn="l" rtl="0">
              <a:spcBef>
                <a:spcPts val="0"/>
              </a:spcBef>
              <a:spcAft>
                <a:spcPts val="0"/>
              </a:spcAft>
              <a:buClr>
                <a:schemeClr val="dk1"/>
              </a:buClr>
              <a:buSzPts val="1800"/>
              <a:buFont typeface="Arial"/>
              <a:buAutoNum type="arabicPeriod"/>
            </a:pPr>
            <a:r>
              <a:rPr lang="en-US" sz="1800" b="1" i="0" u="none" strike="noStrike" cap="none">
                <a:solidFill>
                  <a:schemeClr val="dk1"/>
                </a:solidFill>
                <a:latin typeface="Times New Roman"/>
                <a:ea typeface="Times New Roman"/>
                <a:cs typeface="Times New Roman"/>
                <a:sym typeface="Times New Roman"/>
              </a:rPr>
              <a:t>Genetics</a:t>
            </a:r>
            <a:r>
              <a:rPr lang="en-US" sz="1800" b="0" i="0" u="none" strike="noStrike" cap="none">
                <a:solidFill>
                  <a:schemeClr val="dk1"/>
                </a:solidFill>
                <a:latin typeface="Times New Roman"/>
                <a:ea typeface="Times New Roman"/>
                <a:cs typeface="Times New Roman"/>
                <a:sym typeface="Times New Roman"/>
              </a:rPr>
              <a:t>: A family history of depression increases the risk, suggesting a hereditary component.</a:t>
            </a:r>
            <a:endParaRPr/>
          </a:p>
          <a:p>
            <a:pPr marL="742950" marR="0" lvl="1" indent="-285750" algn="l" rtl="0">
              <a:spcBef>
                <a:spcPts val="0"/>
              </a:spcBef>
              <a:spcAft>
                <a:spcPts val="0"/>
              </a:spcAft>
              <a:buClr>
                <a:schemeClr val="dk1"/>
              </a:buClr>
              <a:buSzPts val="1800"/>
              <a:buFont typeface="Arial"/>
              <a:buAutoNum type="arabicPeriod"/>
            </a:pPr>
            <a:r>
              <a:rPr lang="en-US" sz="1800" b="1" i="0" u="none" strike="noStrike" cap="none">
                <a:solidFill>
                  <a:schemeClr val="dk1"/>
                </a:solidFill>
                <a:latin typeface="Times New Roman"/>
                <a:ea typeface="Times New Roman"/>
                <a:cs typeface="Times New Roman"/>
                <a:sym typeface="Times New Roman"/>
              </a:rPr>
              <a:t>Brain Chemistry</a:t>
            </a:r>
            <a:r>
              <a:rPr lang="en-US" sz="1800" b="0" i="0" u="none" strike="noStrike" cap="none">
                <a:solidFill>
                  <a:schemeClr val="dk1"/>
                </a:solidFill>
                <a:latin typeface="Times New Roman"/>
                <a:ea typeface="Times New Roman"/>
                <a:cs typeface="Times New Roman"/>
                <a:sym typeface="Times New Roman"/>
              </a:rPr>
              <a:t>: Imbalances in neurotransmitters such as serotonin, dopamine, and norepinephrine can contribute to depressive symptoms.</a:t>
            </a:r>
            <a:endParaRPr/>
          </a:p>
          <a:p>
            <a:pPr marL="742950" marR="0" lvl="1" indent="-285750" algn="l" rtl="0">
              <a:spcBef>
                <a:spcPts val="0"/>
              </a:spcBef>
              <a:spcAft>
                <a:spcPts val="0"/>
              </a:spcAft>
              <a:buClr>
                <a:schemeClr val="dk1"/>
              </a:buClr>
              <a:buSzPts val="1800"/>
              <a:buFont typeface="Arial"/>
              <a:buAutoNum type="arabicPeriod"/>
            </a:pPr>
            <a:r>
              <a:rPr lang="en-US" sz="1800" b="1" i="0" u="none" strike="noStrike" cap="none">
                <a:solidFill>
                  <a:schemeClr val="dk1"/>
                </a:solidFill>
                <a:latin typeface="Times New Roman"/>
                <a:ea typeface="Times New Roman"/>
                <a:cs typeface="Times New Roman"/>
                <a:sym typeface="Times New Roman"/>
              </a:rPr>
              <a:t>Hormonal Changes</a:t>
            </a:r>
            <a:r>
              <a:rPr lang="en-US" sz="1800" b="0" i="0" u="none" strike="noStrike" cap="none">
                <a:solidFill>
                  <a:schemeClr val="dk1"/>
                </a:solidFill>
                <a:latin typeface="Times New Roman"/>
                <a:ea typeface="Times New Roman"/>
                <a:cs typeface="Times New Roman"/>
                <a:sym typeface="Times New Roman"/>
              </a:rPr>
              <a:t>: Conditions like postpartum depression or thyroid problems can trigger depression due to hormonal fluctuations.</a:t>
            </a:r>
            <a:endParaRPr/>
          </a:p>
          <a:p>
            <a:pPr marL="0" marR="0" lvl="0" indent="-114300" algn="l" rtl="0">
              <a:spcBef>
                <a:spcPts val="0"/>
              </a:spcBef>
              <a:spcAft>
                <a:spcPts val="0"/>
              </a:spcAft>
              <a:buClr>
                <a:schemeClr val="dk1"/>
              </a:buClr>
              <a:buSzPts val="1800"/>
              <a:buFont typeface="Arial"/>
              <a:buAutoNum type="arabicPeriod"/>
            </a:pPr>
            <a:r>
              <a:rPr lang="en-US" sz="1800" b="1">
                <a:solidFill>
                  <a:schemeClr val="dk1"/>
                </a:solidFill>
                <a:latin typeface="Times New Roman"/>
                <a:ea typeface="Times New Roman"/>
                <a:cs typeface="Times New Roman"/>
                <a:sym typeface="Times New Roman"/>
              </a:rPr>
              <a:t>Psychological Factors</a:t>
            </a:r>
            <a:endParaRPr sz="1800">
              <a:solidFill>
                <a:schemeClr val="dk1"/>
              </a:solidFill>
              <a:latin typeface="Times New Roman"/>
              <a:ea typeface="Times New Roman"/>
              <a:cs typeface="Times New Roman"/>
              <a:sym typeface="Times New Roman"/>
            </a:endParaRPr>
          </a:p>
          <a:p>
            <a:pPr marL="742950" marR="0" lvl="1" indent="-285750" algn="l" rtl="0">
              <a:spcBef>
                <a:spcPts val="0"/>
              </a:spcBef>
              <a:spcAft>
                <a:spcPts val="0"/>
              </a:spcAft>
              <a:buClr>
                <a:schemeClr val="dk1"/>
              </a:buClr>
              <a:buSzPts val="1800"/>
              <a:buFont typeface="Arial"/>
              <a:buAutoNum type="arabicPeriod"/>
            </a:pPr>
            <a:r>
              <a:rPr lang="en-US" sz="1800" b="1" i="0" u="none" strike="noStrike" cap="none">
                <a:solidFill>
                  <a:schemeClr val="dk1"/>
                </a:solidFill>
                <a:latin typeface="Times New Roman"/>
                <a:ea typeface="Times New Roman"/>
                <a:cs typeface="Times New Roman"/>
                <a:sym typeface="Times New Roman"/>
              </a:rPr>
              <a:t>Personality Traits</a:t>
            </a:r>
            <a:r>
              <a:rPr lang="en-US" sz="1800" b="0" i="0" u="none" strike="noStrike" cap="none">
                <a:solidFill>
                  <a:schemeClr val="dk1"/>
                </a:solidFill>
                <a:latin typeface="Times New Roman"/>
                <a:ea typeface="Times New Roman"/>
                <a:cs typeface="Times New Roman"/>
                <a:sym typeface="Times New Roman"/>
              </a:rPr>
              <a:t>: Individuals with low self-esteem, high levels of self-criticism, or a pessimistic outlook may be more prone to depression.</a:t>
            </a:r>
            <a:endParaRPr/>
          </a:p>
          <a:p>
            <a:pPr marL="742950" marR="0" lvl="1" indent="-285750" algn="l" rtl="0">
              <a:spcBef>
                <a:spcPts val="0"/>
              </a:spcBef>
              <a:spcAft>
                <a:spcPts val="0"/>
              </a:spcAft>
              <a:buClr>
                <a:schemeClr val="dk1"/>
              </a:buClr>
              <a:buSzPts val="1800"/>
              <a:buFont typeface="Arial"/>
              <a:buAutoNum type="arabicPeriod"/>
            </a:pPr>
            <a:r>
              <a:rPr lang="en-US" sz="1800" b="1" i="0" u="none" strike="noStrike" cap="none">
                <a:solidFill>
                  <a:schemeClr val="dk1"/>
                </a:solidFill>
                <a:latin typeface="Times New Roman"/>
                <a:ea typeface="Times New Roman"/>
                <a:cs typeface="Times New Roman"/>
                <a:sym typeface="Times New Roman"/>
              </a:rPr>
              <a:t>Cognitive Patterns</a:t>
            </a:r>
            <a:r>
              <a:rPr lang="en-US" sz="1800" b="0" i="0" u="none" strike="noStrike" cap="none">
                <a:solidFill>
                  <a:schemeClr val="dk1"/>
                </a:solidFill>
                <a:latin typeface="Times New Roman"/>
                <a:ea typeface="Times New Roman"/>
                <a:cs typeface="Times New Roman"/>
                <a:sym typeface="Times New Roman"/>
              </a:rPr>
              <a:t>: Negative thinking patterns, such as rumination and distorted beliefs, can contribute to the onset and persistence of depression.</a:t>
            </a:r>
            <a:endParaRPr/>
          </a:p>
          <a:p>
            <a:pPr marL="0" marR="0" lvl="0" indent="-114300" algn="l" rtl="0">
              <a:spcBef>
                <a:spcPts val="0"/>
              </a:spcBef>
              <a:spcAft>
                <a:spcPts val="0"/>
              </a:spcAft>
              <a:buClr>
                <a:schemeClr val="dk1"/>
              </a:buClr>
              <a:buSzPts val="1800"/>
              <a:buFont typeface="Arial"/>
              <a:buAutoNum type="arabicPeriod"/>
            </a:pPr>
            <a:r>
              <a:rPr lang="en-US" sz="1800" b="1">
                <a:solidFill>
                  <a:schemeClr val="dk1"/>
                </a:solidFill>
                <a:latin typeface="Times New Roman"/>
                <a:ea typeface="Times New Roman"/>
                <a:cs typeface="Times New Roman"/>
                <a:sym typeface="Times New Roman"/>
              </a:rPr>
              <a:t>Environmental and Social Factors</a:t>
            </a:r>
            <a:endParaRPr sz="1800">
              <a:solidFill>
                <a:schemeClr val="dk1"/>
              </a:solidFill>
              <a:latin typeface="Times New Roman"/>
              <a:ea typeface="Times New Roman"/>
              <a:cs typeface="Times New Roman"/>
              <a:sym typeface="Times New Roman"/>
            </a:endParaRPr>
          </a:p>
          <a:p>
            <a:pPr marL="742950" marR="0" lvl="1" indent="-285750" algn="l" rtl="0">
              <a:spcBef>
                <a:spcPts val="0"/>
              </a:spcBef>
              <a:spcAft>
                <a:spcPts val="0"/>
              </a:spcAft>
              <a:buClr>
                <a:schemeClr val="dk1"/>
              </a:buClr>
              <a:buSzPts val="1800"/>
              <a:buFont typeface="Arial"/>
              <a:buAutoNum type="arabicPeriod"/>
            </a:pPr>
            <a:r>
              <a:rPr lang="en-US" sz="1800" b="1" i="0" u="none" strike="noStrike" cap="none">
                <a:solidFill>
                  <a:schemeClr val="dk1"/>
                </a:solidFill>
                <a:latin typeface="Times New Roman"/>
                <a:ea typeface="Times New Roman"/>
                <a:cs typeface="Times New Roman"/>
                <a:sym typeface="Times New Roman"/>
              </a:rPr>
              <a:t>Trauma and Stress</a:t>
            </a:r>
            <a:r>
              <a:rPr lang="en-US" sz="1800" b="0" i="0" u="none" strike="noStrike" cap="none">
                <a:solidFill>
                  <a:schemeClr val="dk1"/>
                </a:solidFill>
                <a:latin typeface="Times New Roman"/>
                <a:ea typeface="Times New Roman"/>
                <a:cs typeface="Times New Roman"/>
                <a:sym typeface="Times New Roman"/>
              </a:rPr>
              <a:t>: Experiences such as childhood abuse, loss of a loved one, relationship issues, or financial problems can trigger depression.</a:t>
            </a:r>
            <a:endParaRPr/>
          </a:p>
          <a:p>
            <a:pPr marL="742950" marR="0" lvl="1" indent="-285750" algn="l" rtl="0">
              <a:spcBef>
                <a:spcPts val="0"/>
              </a:spcBef>
              <a:spcAft>
                <a:spcPts val="0"/>
              </a:spcAft>
              <a:buClr>
                <a:schemeClr val="dk1"/>
              </a:buClr>
              <a:buSzPts val="1800"/>
              <a:buFont typeface="Arial"/>
              <a:buAutoNum type="arabicPeriod"/>
            </a:pPr>
            <a:r>
              <a:rPr lang="en-US" sz="1800" b="1" i="0" u="none" strike="noStrike" cap="none">
                <a:solidFill>
                  <a:schemeClr val="dk1"/>
                </a:solidFill>
                <a:latin typeface="Times New Roman"/>
                <a:ea typeface="Times New Roman"/>
                <a:cs typeface="Times New Roman"/>
                <a:sym typeface="Times New Roman"/>
              </a:rPr>
              <a:t>Social Isolation</a:t>
            </a:r>
            <a:r>
              <a:rPr lang="en-US" sz="1800" b="0" i="0" u="none" strike="noStrike" cap="none">
                <a:solidFill>
                  <a:schemeClr val="dk1"/>
                </a:solidFill>
                <a:latin typeface="Times New Roman"/>
                <a:ea typeface="Times New Roman"/>
                <a:cs typeface="Times New Roman"/>
                <a:sym typeface="Times New Roman"/>
              </a:rPr>
              <a:t>: Lack of support systems and loneliness significantly increase vulnerability to depression.</a:t>
            </a:r>
            <a:endParaRPr/>
          </a:p>
          <a:p>
            <a:pPr marL="0" marR="0" lvl="0" indent="-114300" algn="l" rtl="0">
              <a:spcBef>
                <a:spcPts val="0"/>
              </a:spcBef>
              <a:spcAft>
                <a:spcPts val="0"/>
              </a:spcAft>
              <a:buClr>
                <a:schemeClr val="dk1"/>
              </a:buClr>
              <a:buSzPts val="1800"/>
              <a:buFont typeface="Arial"/>
              <a:buAutoNum type="arabicPeriod"/>
            </a:pPr>
            <a:r>
              <a:rPr lang="en-US" sz="1800" b="1">
                <a:solidFill>
                  <a:schemeClr val="dk1"/>
                </a:solidFill>
                <a:latin typeface="Times New Roman"/>
                <a:ea typeface="Times New Roman"/>
                <a:cs typeface="Times New Roman"/>
                <a:sym typeface="Times New Roman"/>
              </a:rPr>
              <a:t>Medical Conditions</a:t>
            </a:r>
            <a:endParaRPr sz="1800">
              <a:solidFill>
                <a:schemeClr val="dk1"/>
              </a:solidFill>
              <a:latin typeface="Times New Roman"/>
              <a:ea typeface="Times New Roman"/>
              <a:cs typeface="Times New Roman"/>
              <a:sym typeface="Times New Roman"/>
            </a:endParaRPr>
          </a:p>
          <a:p>
            <a:pPr marL="742950" marR="0" lvl="1" indent="-285750" algn="l" rtl="0">
              <a:spcBef>
                <a:spcPts val="0"/>
              </a:spcBef>
              <a:spcAft>
                <a:spcPts val="0"/>
              </a:spcAft>
              <a:buClr>
                <a:schemeClr val="dk1"/>
              </a:buClr>
              <a:buSzPts val="1800"/>
              <a:buFont typeface="Arial"/>
              <a:buAutoNum type="arabicPeriod"/>
            </a:pPr>
            <a:r>
              <a:rPr lang="en-US" sz="1800" b="0" i="0" u="none" strike="noStrike" cap="none">
                <a:solidFill>
                  <a:schemeClr val="dk1"/>
                </a:solidFill>
                <a:latin typeface="Times New Roman"/>
                <a:ea typeface="Times New Roman"/>
                <a:cs typeface="Times New Roman"/>
                <a:sym typeface="Times New Roman"/>
              </a:rPr>
              <a:t>Chronic illnesses (e.g., cancer, diabetes, cardiovascular diseases) and certain medications can lead to depression as a secondary condition.</a:t>
            </a:r>
            <a:endParaRPr/>
          </a:p>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4"/>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4400"/>
              <a:buFont typeface="Times New Roman"/>
              <a:buNone/>
            </a:pPr>
            <a:r>
              <a:rPr lang="en-US">
                <a:latin typeface="Times New Roman"/>
                <a:ea typeface="Times New Roman"/>
                <a:cs typeface="Times New Roman"/>
                <a:sym typeface="Times New Roman"/>
              </a:rPr>
              <a:t>Key Points &amp; Objective</a:t>
            </a:r>
            <a:endParaRPr/>
          </a:p>
        </p:txBody>
      </p:sp>
      <p:sp>
        <p:nvSpPr>
          <p:cNvPr id="104" name="Google Shape;104;p4"/>
          <p:cNvSpPr txBox="1">
            <a:spLocks noGrp="1"/>
          </p:cNvSpPr>
          <p:nvPr>
            <p:ph type="subTitle" idx="1"/>
          </p:nvPr>
        </p:nvSpPr>
        <p:spPr>
          <a:xfrm>
            <a:off x="0" y="0"/>
            <a:ext cx="5486040" cy="91404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1800"/>
              <a:buFont typeface="Arial"/>
              <a:buNone/>
            </a:pPr>
            <a:endParaRPr sz="1800" b="1"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800"/>
              <a:buFont typeface="Arial"/>
              <a:buNone/>
            </a:pPr>
            <a:endParaRPr sz="1800" b="1"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800"/>
              <a:buFont typeface="Arial"/>
              <a:buNone/>
            </a:pPr>
            <a:endParaRPr sz="1800" b="1"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800"/>
              <a:buFont typeface="Arial"/>
              <a:buNone/>
            </a:pPr>
            <a:endParaRPr sz="1800" b="1"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800"/>
              <a:buFont typeface="Arial"/>
              <a:buNone/>
            </a:pPr>
            <a:endParaRPr sz="1800" b="1"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800"/>
              <a:buFont typeface="Arial"/>
              <a:buNone/>
            </a:pPr>
            <a:endParaRPr sz="1800" b="1"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800"/>
              <a:buFont typeface="Arial"/>
              <a:buNone/>
            </a:pPr>
            <a:endParaRPr sz="1800" b="1"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800"/>
              <a:buFont typeface="Arial"/>
              <a:buNone/>
            </a:pPr>
            <a:endParaRPr sz="1800" b="1"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800"/>
              <a:buFont typeface="Arial"/>
              <a:buNone/>
            </a:pPr>
            <a:endParaRPr sz="1800" b="1"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800"/>
              <a:buFont typeface="Arial"/>
              <a:buNone/>
            </a:pPr>
            <a:endParaRPr sz="1800" b="1"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800"/>
              <a:buFont typeface="Arial"/>
              <a:buNone/>
            </a:pPr>
            <a:endParaRPr sz="1800" b="1"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800"/>
              <a:buFont typeface="Arial"/>
              <a:buNone/>
            </a:pPr>
            <a:endParaRPr sz="1800" b="1"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800"/>
              <a:buFont typeface="Arial"/>
              <a:buNone/>
            </a:pPr>
            <a:endParaRPr sz="1800" b="1"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800"/>
              <a:buFont typeface="Arial"/>
              <a:buNone/>
            </a:pPr>
            <a:endParaRPr sz="1800" b="1"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800"/>
              <a:buFont typeface="Arial"/>
              <a:buNone/>
            </a:pPr>
            <a:endParaRPr sz="1800" b="1"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800"/>
              <a:buFont typeface="Arial"/>
              <a:buNone/>
            </a:pPr>
            <a:endParaRPr sz="1800" b="1"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800"/>
              <a:buFont typeface="Arial"/>
              <a:buNone/>
            </a:pPr>
            <a:endParaRPr sz="1800" b="1"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800"/>
              <a:buFont typeface="Arial"/>
              <a:buNone/>
            </a:pPr>
            <a:endParaRPr sz="1800" b="1"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800"/>
              <a:buFont typeface="Arial"/>
              <a:buNone/>
            </a:pPr>
            <a:endParaRPr sz="1800" b="1"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800"/>
              <a:buFont typeface="Arial"/>
              <a:buNone/>
            </a:pPr>
            <a:endParaRPr sz="1800" b="1"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105" name="Google Shape;105;p4"/>
          <p:cNvSpPr/>
          <p:nvPr/>
        </p:nvSpPr>
        <p:spPr>
          <a:xfrm>
            <a:off x="0" y="2610683"/>
            <a:ext cx="8762999" cy="4247317"/>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1800"/>
              <a:buFont typeface="Times New Roman"/>
              <a:buNone/>
            </a:pPr>
            <a:r>
              <a:rPr lang="en-US" sz="1800" b="1" i="0" u="none" strike="noStrike" cap="none">
                <a:solidFill>
                  <a:schemeClr val="dk1"/>
                </a:solidFill>
                <a:latin typeface="Times New Roman"/>
                <a:ea typeface="Times New Roman"/>
                <a:cs typeface="Times New Roman"/>
                <a:sym typeface="Times New Roman"/>
              </a:rPr>
              <a:t>Key Points</a:t>
            </a:r>
            <a:r>
              <a:rPr lang="en-US" sz="1800" i="0" u="none" strike="noStrike" cap="none">
                <a:solidFill>
                  <a:schemeClr val="dk1"/>
                </a:solidFill>
                <a:latin typeface="Times New Roman"/>
                <a:ea typeface="Times New Roman"/>
                <a:cs typeface="Times New Roman"/>
                <a:sym typeface="Times New Roman"/>
              </a:rPr>
              <a:t> -</a:t>
            </a:r>
            <a:endParaRPr/>
          </a:p>
          <a:p>
            <a:pPr marL="0" marR="0" lvl="0" indent="-114300" algn="l" rtl="0">
              <a:lnSpc>
                <a:spcPct val="100000"/>
              </a:lnSpc>
              <a:spcBef>
                <a:spcPts val="0"/>
              </a:spcBef>
              <a:spcAft>
                <a:spcPts val="0"/>
              </a:spcAft>
              <a:buClr>
                <a:schemeClr val="dk1"/>
              </a:buClr>
              <a:buSzPts val="1800"/>
              <a:buFont typeface="Times New Roman"/>
              <a:buChar char="•"/>
            </a:pPr>
            <a:r>
              <a:rPr lang="en-US" sz="1800" b="1" i="0" u="none" strike="noStrike" cap="none">
                <a:solidFill>
                  <a:schemeClr val="dk1"/>
                </a:solidFill>
                <a:latin typeface="Times New Roman"/>
                <a:ea typeface="Times New Roman"/>
                <a:cs typeface="Times New Roman"/>
                <a:sym typeface="Times New Roman"/>
              </a:rPr>
              <a:t>Definition and Impact</a:t>
            </a:r>
            <a:r>
              <a:rPr lang="en-US" sz="1800" b="0" i="0" u="none" strike="noStrike" cap="none">
                <a:solidFill>
                  <a:schemeClr val="dk1"/>
                </a:solidFill>
                <a:latin typeface="Times New Roman"/>
                <a:ea typeface="Times New Roman"/>
                <a:cs typeface="Times New Roman"/>
                <a:sym typeface="Times New Roman"/>
              </a:rPr>
              <a:t>: Depression is a serious mental health condition that affects mood, thoughts, and daily life.</a:t>
            </a:r>
            <a:endParaRPr/>
          </a:p>
          <a:p>
            <a:pPr marL="0" marR="0" lvl="0" indent="-114300" algn="l" rtl="0">
              <a:lnSpc>
                <a:spcPct val="100000"/>
              </a:lnSpc>
              <a:spcBef>
                <a:spcPts val="0"/>
              </a:spcBef>
              <a:spcAft>
                <a:spcPts val="0"/>
              </a:spcAft>
              <a:buClr>
                <a:schemeClr val="dk1"/>
              </a:buClr>
              <a:buSzPts val="1800"/>
              <a:buFont typeface="Times New Roman"/>
              <a:buChar char="•"/>
            </a:pPr>
            <a:r>
              <a:rPr lang="en-US" sz="1800" b="1" i="0" u="none" strike="noStrike" cap="none">
                <a:solidFill>
                  <a:schemeClr val="dk1"/>
                </a:solidFill>
                <a:latin typeface="Times New Roman"/>
                <a:ea typeface="Times New Roman"/>
                <a:cs typeface="Times New Roman"/>
                <a:sym typeface="Times New Roman"/>
              </a:rPr>
              <a:t>Prevalence Among Students</a:t>
            </a:r>
            <a:r>
              <a:rPr lang="en-US" sz="1800" b="0" i="0" u="none" strike="noStrike" cap="none">
                <a:solidFill>
                  <a:schemeClr val="dk1"/>
                </a:solidFill>
                <a:latin typeface="Times New Roman"/>
                <a:ea typeface="Times New Roman"/>
                <a:cs typeface="Times New Roman"/>
                <a:sym typeface="Times New Roman"/>
              </a:rPr>
              <a:t>: Students are particularly vulnerable due to academic pressure, social challenges, and lifestyle changes.</a:t>
            </a:r>
            <a:endParaRPr/>
          </a:p>
          <a:p>
            <a:pPr marL="0" marR="0" lvl="0" indent="-114300" algn="l" rtl="0">
              <a:lnSpc>
                <a:spcPct val="100000"/>
              </a:lnSpc>
              <a:spcBef>
                <a:spcPts val="0"/>
              </a:spcBef>
              <a:spcAft>
                <a:spcPts val="0"/>
              </a:spcAft>
              <a:buClr>
                <a:schemeClr val="dk1"/>
              </a:buClr>
              <a:buSzPts val="1800"/>
              <a:buFont typeface="Times New Roman"/>
              <a:buChar char="•"/>
            </a:pPr>
            <a:r>
              <a:rPr lang="en-US" sz="1800" b="1" i="0" u="none" strike="noStrike" cap="none">
                <a:solidFill>
                  <a:schemeClr val="dk1"/>
                </a:solidFill>
                <a:latin typeface="Times New Roman"/>
                <a:ea typeface="Times New Roman"/>
                <a:cs typeface="Times New Roman"/>
                <a:sym typeface="Times New Roman"/>
              </a:rPr>
              <a:t>Causes</a:t>
            </a:r>
            <a:r>
              <a:rPr lang="en-US" sz="1800" b="0" i="0" u="none" strike="noStrike" cap="none">
                <a:solidFill>
                  <a:schemeClr val="dk1"/>
                </a:solidFill>
                <a:latin typeface="Times New Roman"/>
                <a:ea typeface="Times New Roman"/>
                <a:cs typeface="Times New Roman"/>
                <a:sym typeface="Times New Roman"/>
              </a:rPr>
              <a:t>: Depression stems from a mix of biological, psychological, and environmental factors.</a:t>
            </a:r>
            <a:endParaRPr/>
          </a:p>
          <a:p>
            <a:pPr marL="0" marR="0" lvl="0" indent="-114300" algn="l" rtl="0">
              <a:lnSpc>
                <a:spcPct val="100000"/>
              </a:lnSpc>
              <a:spcBef>
                <a:spcPts val="0"/>
              </a:spcBef>
              <a:spcAft>
                <a:spcPts val="0"/>
              </a:spcAft>
              <a:buClr>
                <a:schemeClr val="dk1"/>
              </a:buClr>
              <a:buSzPts val="1800"/>
              <a:buFont typeface="Times New Roman"/>
              <a:buChar char="•"/>
            </a:pPr>
            <a:r>
              <a:rPr lang="en-US" sz="1800" b="1" i="0" u="none" strike="noStrike" cap="none">
                <a:solidFill>
                  <a:schemeClr val="dk1"/>
                </a:solidFill>
                <a:latin typeface="Times New Roman"/>
                <a:ea typeface="Times New Roman"/>
                <a:cs typeface="Times New Roman"/>
                <a:sym typeface="Times New Roman"/>
              </a:rPr>
              <a:t>Importance of Early Detection</a:t>
            </a:r>
            <a:r>
              <a:rPr lang="en-US" sz="1800" b="0" i="0" u="none" strike="noStrike" cap="none">
                <a:solidFill>
                  <a:schemeClr val="dk1"/>
                </a:solidFill>
                <a:latin typeface="Times New Roman"/>
                <a:ea typeface="Times New Roman"/>
                <a:cs typeface="Times New Roman"/>
                <a:sym typeface="Times New Roman"/>
              </a:rPr>
              <a:t>: Timely identification can significantly improve outcomes.</a:t>
            </a:r>
            <a:endParaRPr/>
          </a:p>
          <a:p>
            <a:pPr marL="0" marR="0" lvl="0" indent="-114300" algn="l" rtl="0">
              <a:lnSpc>
                <a:spcPct val="100000"/>
              </a:lnSpc>
              <a:spcBef>
                <a:spcPts val="0"/>
              </a:spcBef>
              <a:spcAft>
                <a:spcPts val="0"/>
              </a:spcAft>
              <a:buClr>
                <a:schemeClr val="dk1"/>
              </a:buClr>
              <a:buSzPts val="1800"/>
              <a:buFont typeface="Times New Roman"/>
              <a:buChar char="•"/>
            </a:pPr>
            <a:r>
              <a:rPr lang="en-US" sz="1800" b="1" i="0" u="none" strike="noStrike" cap="none">
                <a:solidFill>
                  <a:schemeClr val="dk1"/>
                </a:solidFill>
                <a:latin typeface="Times New Roman"/>
                <a:ea typeface="Times New Roman"/>
                <a:cs typeface="Times New Roman"/>
                <a:sym typeface="Times New Roman"/>
              </a:rPr>
              <a:t>Role of Machine Learning</a:t>
            </a:r>
            <a:r>
              <a:rPr lang="en-US" sz="1800" b="0" i="0" u="none" strike="noStrike" cap="none">
                <a:solidFill>
                  <a:schemeClr val="dk1"/>
                </a:solidFill>
                <a:latin typeface="Times New Roman"/>
                <a:ea typeface="Times New Roman"/>
                <a:cs typeface="Times New Roman"/>
                <a:sym typeface="Times New Roman"/>
              </a:rPr>
              <a:t>: Predictive models can help in identifying at-risk individuals based on behavioral, academic, and psychological data.</a:t>
            </a:r>
            <a:endParaRPr/>
          </a:p>
          <a:p>
            <a:pPr marL="0" marR="0" lvl="0" indent="-114300" algn="l" rtl="0">
              <a:lnSpc>
                <a:spcPct val="100000"/>
              </a:lnSpc>
              <a:spcBef>
                <a:spcPts val="0"/>
              </a:spcBef>
              <a:spcAft>
                <a:spcPts val="0"/>
              </a:spcAft>
              <a:buClr>
                <a:schemeClr val="dk1"/>
              </a:buClr>
              <a:buSzPts val="1800"/>
              <a:buFont typeface="Times New Roman"/>
              <a:buChar char="•"/>
            </a:pPr>
            <a:r>
              <a:rPr lang="en-US" sz="1800" b="1" i="0" u="none" strike="noStrike" cap="none">
                <a:solidFill>
                  <a:schemeClr val="dk1"/>
                </a:solidFill>
                <a:latin typeface="Times New Roman"/>
                <a:ea typeface="Times New Roman"/>
                <a:cs typeface="Times New Roman"/>
                <a:sym typeface="Times New Roman"/>
              </a:rPr>
              <a:t>Data-Driven Approach</a:t>
            </a:r>
            <a:r>
              <a:rPr lang="en-US" sz="1800" b="0" i="0" u="none" strike="noStrike" cap="none">
                <a:solidFill>
                  <a:schemeClr val="dk1"/>
                </a:solidFill>
                <a:latin typeface="Times New Roman"/>
                <a:ea typeface="Times New Roman"/>
                <a:cs typeface="Times New Roman"/>
                <a:sym typeface="Times New Roman"/>
              </a:rPr>
              <a:t>: Using real-world data to train models improves prediction accuracy.</a:t>
            </a:r>
            <a:endParaRPr/>
          </a:p>
          <a:p>
            <a:pPr marL="0" marR="0" lvl="0" indent="-114300" algn="l" rtl="0">
              <a:lnSpc>
                <a:spcPct val="100000"/>
              </a:lnSpc>
              <a:spcBef>
                <a:spcPts val="0"/>
              </a:spcBef>
              <a:spcAft>
                <a:spcPts val="0"/>
              </a:spcAft>
              <a:buClr>
                <a:schemeClr val="dk1"/>
              </a:buClr>
              <a:buSzPts val="1800"/>
              <a:buFont typeface="Times New Roman"/>
              <a:buChar char="•"/>
            </a:pPr>
            <a:r>
              <a:rPr lang="en-US" sz="1800" b="1" i="0" u="none" strike="noStrike" cap="none">
                <a:solidFill>
                  <a:schemeClr val="dk1"/>
                </a:solidFill>
                <a:latin typeface="Times New Roman"/>
                <a:ea typeface="Times New Roman"/>
                <a:cs typeface="Times New Roman"/>
                <a:sym typeface="Times New Roman"/>
              </a:rPr>
              <a:t>Goal of the Study</a:t>
            </a:r>
            <a:r>
              <a:rPr lang="en-US" sz="1800" b="0" i="0" u="none" strike="noStrike" cap="none">
                <a:solidFill>
                  <a:schemeClr val="dk1"/>
                </a:solidFill>
                <a:latin typeface="Times New Roman"/>
                <a:ea typeface="Times New Roman"/>
                <a:cs typeface="Times New Roman"/>
                <a:sym typeface="Times New Roman"/>
              </a:rPr>
              <a:t>: To develop and evaluate a machine learning model capable of predicting depression in students.</a:t>
            </a:r>
            <a:endParaRPr/>
          </a:p>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6" name="Google Shape;106;p4"/>
          <p:cNvSpPr/>
          <p:nvPr/>
        </p:nvSpPr>
        <p:spPr>
          <a:xfrm>
            <a:off x="0" y="881481"/>
            <a:ext cx="8686800" cy="2031325"/>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1800"/>
              <a:buFont typeface="Times New Roman"/>
              <a:buNone/>
            </a:pPr>
            <a:r>
              <a:rPr lang="en-US" sz="1800" b="1" i="0" u="none" strike="noStrike" cap="none">
                <a:solidFill>
                  <a:schemeClr val="dk1"/>
                </a:solidFill>
                <a:latin typeface="Times New Roman"/>
                <a:ea typeface="Times New Roman"/>
                <a:cs typeface="Times New Roman"/>
                <a:sym typeface="Times New Roman"/>
              </a:rPr>
              <a:t>Objectives -</a:t>
            </a:r>
            <a:endParaRPr/>
          </a:p>
          <a:p>
            <a:pPr marL="0" marR="0" lvl="0" indent="-114300" algn="l" rtl="0">
              <a:lnSpc>
                <a:spcPct val="100000"/>
              </a:lnSpc>
              <a:spcBef>
                <a:spcPts val="0"/>
              </a:spcBef>
              <a:spcAft>
                <a:spcPts val="0"/>
              </a:spcAft>
              <a:buClr>
                <a:schemeClr val="dk1"/>
              </a:buClr>
              <a:buSzPts val="1800"/>
              <a:buFont typeface="Times New Roman"/>
              <a:buAutoNum type="arabicPeriod"/>
            </a:pPr>
            <a:r>
              <a:rPr lang="en-US" sz="1800" i="0" u="none" strike="noStrike" cap="none">
                <a:solidFill>
                  <a:schemeClr val="dk1"/>
                </a:solidFill>
                <a:latin typeface="Times New Roman"/>
                <a:ea typeface="Times New Roman"/>
                <a:cs typeface="Times New Roman"/>
                <a:sym typeface="Times New Roman"/>
              </a:rPr>
              <a:t>To understand the key factors contributing to student depression.</a:t>
            </a:r>
            <a:endParaRPr/>
          </a:p>
          <a:p>
            <a:pPr marL="0" marR="0" lvl="0" indent="-114300" algn="l" rtl="0">
              <a:lnSpc>
                <a:spcPct val="100000"/>
              </a:lnSpc>
              <a:spcBef>
                <a:spcPts val="0"/>
              </a:spcBef>
              <a:spcAft>
                <a:spcPts val="0"/>
              </a:spcAft>
              <a:buClr>
                <a:schemeClr val="dk1"/>
              </a:buClr>
              <a:buSzPts val="1800"/>
              <a:buFont typeface="Times New Roman"/>
              <a:buAutoNum type="arabicPeriod"/>
            </a:pPr>
            <a:r>
              <a:rPr lang="en-US" sz="1800" i="0" u="none" strike="noStrike" cap="none">
                <a:solidFill>
                  <a:schemeClr val="dk1"/>
                </a:solidFill>
                <a:latin typeface="Times New Roman"/>
                <a:ea typeface="Times New Roman"/>
                <a:cs typeface="Times New Roman"/>
                <a:sym typeface="Times New Roman"/>
              </a:rPr>
              <a:t>To collect and analyze relevant data for identifying depression indicators.</a:t>
            </a:r>
            <a:endParaRPr/>
          </a:p>
          <a:p>
            <a:pPr marL="0" marR="0" lvl="0" indent="-114300" algn="l" rtl="0">
              <a:lnSpc>
                <a:spcPct val="100000"/>
              </a:lnSpc>
              <a:spcBef>
                <a:spcPts val="0"/>
              </a:spcBef>
              <a:spcAft>
                <a:spcPts val="0"/>
              </a:spcAft>
              <a:buClr>
                <a:schemeClr val="dk1"/>
              </a:buClr>
              <a:buSzPts val="1800"/>
              <a:buFont typeface="Times New Roman"/>
              <a:buAutoNum type="arabicPeriod"/>
            </a:pPr>
            <a:r>
              <a:rPr lang="en-US" sz="1800" i="0" u="none" strike="noStrike" cap="none">
                <a:solidFill>
                  <a:schemeClr val="dk1"/>
                </a:solidFill>
                <a:latin typeface="Times New Roman"/>
                <a:ea typeface="Times New Roman"/>
                <a:cs typeface="Times New Roman"/>
                <a:sym typeface="Times New Roman"/>
              </a:rPr>
              <a:t>To apply various machine learning algorithms for predicting depression.</a:t>
            </a:r>
            <a:endParaRPr/>
          </a:p>
          <a:p>
            <a:pPr marL="0" marR="0" lvl="0" indent="-114300" algn="l" rtl="0">
              <a:lnSpc>
                <a:spcPct val="100000"/>
              </a:lnSpc>
              <a:spcBef>
                <a:spcPts val="0"/>
              </a:spcBef>
              <a:spcAft>
                <a:spcPts val="0"/>
              </a:spcAft>
              <a:buClr>
                <a:schemeClr val="dk1"/>
              </a:buClr>
              <a:buSzPts val="1800"/>
              <a:buFont typeface="Times New Roman"/>
              <a:buAutoNum type="arabicPeriod"/>
            </a:pPr>
            <a:r>
              <a:rPr lang="en-US" sz="1800" i="0" u="none" strike="noStrike" cap="none">
                <a:solidFill>
                  <a:schemeClr val="dk1"/>
                </a:solidFill>
                <a:latin typeface="Times New Roman"/>
                <a:ea typeface="Times New Roman"/>
                <a:cs typeface="Times New Roman"/>
                <a:sym typeface="Times New Roman"/>
              </a:rPr>
              <a:t>To evaluate the performance and accuracy of these models.</a:t>
            </a:r>
            <a:endParaRPr/>
          </a:p>
          <a:p>
            <a:pPr marL="0" marR="0" lvl="0" indent="-114300" algn="l" rtl="0">
              <a:lnSpc>
                <a:spcPct val="100000"/>
              </a:lnSpc>
              <a:spcBef>
                <a:spcPts val="0"/>
              </a:spcBef>
              <a:spcAft>
                <a:spcPts val="0"/>
              </a:spcAft>
              <a:buClr>
                <a:schemeClr val="dk1"/>
              </a:buClr>
              <a:buSzPts val="1800"/>
              <a:buFont typeface="Times New Roman"/>
              <a:buAutoNum type="arabicPeriod"/>
            </a:pPr>
            <a:r>
              <a:rPr lang="en-US" sz="1800" i="0" u="none" strike="noStrike" cap="none">
                <a:solidFill>
                  <a:schemeClr val="dk1"/>
                </a:solidFill>
                <a:latin typeface="Times New Roman"/>
                <a:ea typeface="Times New Roman"/>
                <a:cs typeface="Times New Roman"/>
                <a:sym typeface="Times New Roman"/>
              </a:rPr>
              <a:t>To highlight the potential of AI in supporting mental health interventions</a:t>
            </a:r>
            <a:r>
              <a:rPr lang="en-US" sz="1800" i="0" u="none" strike="noStrike" cap="none">
                <a:solidFill>
                  <a:schemeClr val="dk1"/>
                </a:solidFill>
                <a:latin typeface="Arial"/>
                <a:ea typeface="Arial"/>
                <a:cs typeface="Arial"/>
                <a:sym typeface="Arial"/>
              </a:rPr>
              <a:t>.</a:t>
            </a:r>
            <a:endParaRPr/>
          </a:p>
          <a:p>
            <a:pPr marL="0" marR="0" lvl="0" indent="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5"/>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4400"/>
              <a:buFont typeface="Arial"/>
              <a:buNone/>
            </a:pPr>
            <a:r>
              <a:rPr lang="en-US"/>
              <a:t>Methods Used</a:t>
            </a:r>
            <a:endParaRPr/>
          </a:p>
        </p:txBody>
      </p:sp>
      <p:sp>
        <p:nvSpPr>
          <p:cNvPr id="112" name="Google Shape;112;p5"/>
          <p:cNvSpPr txBox="1"/>
          <p:nvPr/>
        </p:nvSpPr>
        <p:spPr>
          <a:xfrm>
            <a:off x="0" y="914041"/>
            <a:ext cx="7630886" cy="286232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Machine learning algorithms such as SVM(Support Vector Machine) , ANN (Artificial Neural Networks ), Logistic regression (LR), Random Forest (RF), Adaptive Boosting (Ada boost ) are implemented for determining the diagnosis .</a:t>
            </a:r>
            <a:endParaRPr/>
          </a:p>
          <a:p>
            <a:pPr marL="0" marR="0" lvl="0" indent="0" algn="l" rtl="0">
              <a:spcBef>
                <a:spcPts val="0"/>
              </a:spcBef>
              <a:spcAft>
                <a:spcPts val="0"/>
              </a:spcAft>
              <a:buClr>
                <a:schemeClr val="dk1"/>
              </a:buClr>
              <a:buSzPts val="1800"/>
              <a:buFont typeface="Arial"/>
              <a:buNone/>
            </a:pPr>
            <a:endParaRPr sz="18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To ensure high accuracy and reliability, we evaluated models using:</a:t>
            </a:r>
            <a:endParaRPr/>
          </a:p>
          <a:p>
            <a:pPr marL="342900" marR="0" lvl="0" indent="-342900" algn="l" rtl="0">
              <a:spcBef>
                <a:spcPts val="0"/>
              </a:spcBef>
              <a:spcAft>
                <a:spcPts val="0"/>
              </a:spcAft>
              <a:buClr>
                <a:schemeClr val="dk1"/>
              </a:buClr>
              <a:buSzPts val="1800"/>
              <a:buFont typeface="Arial"/>
              <a:buAutoNum type="arabicPeriod"/>
            </a:pPr>
            <a:r>
              <a:rPr lang="en-US" sz="1800" b="1">
                <a:solidFill>
                  <a:schemeClr val="dk1"/>
                </a:solidFill>
                <a:latin typeface="Times New Roman"/>
                <a:ea typeface="Times New Roman"/>
                <a:cs typeface="Times New Roman"/>
                <a:sym typeface="Times New Roman"/>
              </a:rPr>
              <a:t>Accuracy Score </a:t>
            </a:r>
            <a:r>
              <a:rPr lang="en-US" sz="1800">
                <a:solidFill>
                  <a:schemeClr val="dk1"/>
                </a:solidFill>
                <a:latin typeface="Times New Roman"/>
                <a:ea typeface="Times New Roman"/>
                <a:cs typeface="Times New Roman"/>
                <a:sym typeface="Times New Roman"/>
              </a:rPr>
              <a:t>– Measures overall classification performance.</a:t>
            </a:r>
            <a:endParaRPr/>
          </a:p>
          <a:p>
            <a:pPr marL="342900" marR="0" lvl="0" indent="-342900" algn="l" rtl="0">
              <a:spcBef>
                <a:spcPts val="0"/>
              </a:spcBef>
              <a:spcAft>
                <a:spcPts val="0"/>
              </a:spcAft>
              <a:buClr>
                <a:schemeClr val="dk1"/>
              </a:buClr>
              <a:buSzPts val="1800"/>
              <a:buFont typeface="Arial"/>
              <a:buAutoNum type="arabicPeriod"/>
            </a:pPr>
            <a:r>
              <a:rPr lang="en-US" sz="1800" b="1">
                <a:solidFill>
                  <a:schemeClr val="dk1"/>
                </a:solidFill>
                <a:latin typeface="Times New Roman"/>
                <a:ea typeface="Times New Roman"/>
                <a:cs typeface="Times New Roman"/>
                <a:sym typeface="Times New Roman"/>
              </a:rPr>
              <a:t>Precision &amp; Recall </a:t>
            </a:r>
            <a:r>
              <a:rPr lang="en-US" sz="1800">
                <a:solidFill>
                  <a:schemeClr val="dk1"/>
                </a:solidFill>
                <a:latin typeface="Times New Roman"/>
                <a:ea typeface="Times New Roman"/>
                <a:cs typeface="Times New Roman"/>
                <a:sym typeface="Times New Roman"/>
              </a:rPr>
              <a:t>– Ensures correct identification of depression data.</a:t>
            </a:r>
            <a:endParaRPr/>
          </a:p>
          <a:p>
            <a:pPr marL="342900" marR="0" lvl="0" indent="-342900" algn="l" rtl="0">
              <a:spcBef>
                <a:spcPts val="0"/>
              </a:spcBef>
              <a:spcAft>
                <a:spcPts val="0"/>
              </a:spcAft>
              <a:buClr>
                <a:schemeClr val="dk1"/>
              </a:buClr>
              <a:buSzPts val="1800"/>
              <a:buFont typeface="Arial"/>
              <a:buAutoNum type="arabicPeriod"/>
            </a:pPr>
            <a:r>
              <a:rPr lang="en-US" sz="1800" b="1">
                <a:solidFill>
                  <a:schemeClr val="dk1"/>
                </a:solidFill>
                <a:latin typeface="Times New Roman"/>
                <a:ea typeface="Times New Roman"/>
                <a:cs typeface="Times New Roman"/>
                <a:sym typeface="Times New Roman"/>
              </a:rPr>
              <a:t>F1-Score</a:t>
            </a:r>
            <a:r>
              <a:rPr lang="en-US" sz="1800">
                <a:solidFill>
                  <a:schemeClr val="dk1"/>
                </a:solidFill>
                <a:latin typeface="Times New Roman"/>
                <a:ea typeface="Times New Roman"/>
                <a:cs typeface="Times New Roman"/>
                <a:sym typeface="Times New Roman"/>
              </a:rPr>
              <a:t> – Balances precision and recall.</a:t>
            </a:r>
            <a:endParaRPr/>
          </a:p>
          <a:p>
            <a:pPr marL="342900" marR="0" lvl="0" indent="-342900" algn="l" rtl="0">
              <a:spcBef>
                <a:spcPts val="0"/>
              </a:spcBef>
              <a:spcAft>
                <a:spcPts val="0"/>
              </a:spcAft>
              <a:buClr>
                <a:schemeClr val="dk1"/>
              </a:buClr>
              <a:buSzPts val="1800"/>
              <a:buFont typeface="Arial"/>
              <a:buAutoNum type="arabicPeriod"/>
            </a:pPr>
            <a:r>
              <a:rPr lang="en-US" sz="1800" b="1">
                <a:solidFill>
                  <a:schemeClr val="dk1"/>
                </a:solidFill>
                <a:latin typeface="Times New Roman"/>
                <a:ea typeface="Times New Roman"/>
                <a:cs typeface="Times New Roman"/>
                <a:sym typeface="Times New Roman"/>
              </a:rPr>
              <a:t>Confusion Matrix</a:t>
            </a:r>
            <a:r>
              <a:rPr lang="en-US" sz="1800">
                <a:solidFill>
                  <a:schemeClr val="dk1"/>
                </a:solidFill>
                <a:latin typeface="Times New Roman"/>
                <a:ea typeface="Times New Roman"/>
                <a:cs typeface="Times New Roman"/>
                <a:sym typeface="Times New Roman"/>
              </a:rPr>
              <a:t> – Analyzes false positives and false negatives.</a:t>
            </a:r>
            <a:endParaRPr/>
          </a:p>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6"/>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4400"/>
              <a:buFont typeface="Times New Roman"/>
              <a:buNone/>
            </a:pPr>
            <a:r>
              <a:rPr lang="en-US">
                <a:latin typeface="Times New Roman"/>
                <a:ea typeface="Times New Roman"/>
                <a:cs typeface="Times New Roman"/>
                <a:sym typeface="Times New Roman"/>
              </a:rPr>
              <a:t>Conclusion</a:t>
            </a:r>
            <a:endParaRPr/>
          </a:p>
        </p:txBody>
      </p:sp>
      <p:sp>
        <p:nvSpPr>
          <p:cNvPr id="118" name="Google Shape;118;p6"/>
          <p:cNvSpPr txBox="1">
            <a:spLocks noGrp="1"/>
          </p:cNvSpPr>
          <p:nvPr>
            <p:ph type="body" idx="1"/>
          </p:nvPr>
        </p:nvSpPr>
        <p:spPr>
          <a:xfrm flipH="1">
            <a:off x="10711182" y="-108857"/>
            <a:ext cx="403132" cy="4474029"/>
          </a:xfrm>
          <a:prstGeom prst="rect">
            <a:avLst/>
          </a:prstGeom>
          <a:noFill/>
          <a:ln>
            <a:noFill/>
          </a:ln>
        </p:spPr>
        <p:txBody>
          <a:bodyPr spcFirstLastPara="1" wrap="square" lIns="0" tIns="0" rIns="0" bIns="0" anchor="ctr" anchorCtr="0">
            <a:normAutofit/>
          </a:bodyPr>
          <a:lstStyle/>
          <a:p>
            <a:pPr marL="0" marR="0" lvl="0" indent="0" algn="l" rtl="0">
              <a:lnSpc>
                <a:spcPct val="90000"/>
              </a:lnSpc>
              <a:spcBef>
                <a:spcPts val="0"/>
              </a:spcBef>
              <a:spcAft>
                <a:spcPts val="0"/>
              </a:spcAft>
              <a:buClr>
                <a:schemeClr val="dk1"/>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a:t>
            </a:r>
            <a:endParaRPr sz="1800" b="0" i="0" u="none" strike="noStrike" cap="none">
              <a:solidFill>
                <a:schemeClr val="dk1"/>
              </a:solidFill>
              <a:latin typeface="Times New Roman"/>
              <a:ea typeface="Times New Roman"/>
              <a:cs typeface="Times New Roman"/>
              <a:sym typeface="Times New Roman"/>
            </a:endParaRPr>
          </a:p>
        </p:txBody>
      </p:sp>
      <p:sp>
        <p:nvSpPr>
          <p:cNvPr id="119" name="Google Shape;119;p6"/>
          <p:cNvSpPr txBox="1"/>
          <p:nvPr/>
        </p:nvSpPr>
        <p:spPr>
          <a:xfrm>
            <a:off x="1" y="1026319"/>
            <a:ext cx="8958942" cy="23083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In conclusion, depression is a complex and multifaceted mental health disorder that continues to impact millions worldwide, particularly students who face academic, social, and emotional pressures. Through our research, we aimed to better understand the underlying causes, symptoms, and patterns of depression, and how machine learning can be leveraged to predict and potentially prevent its onset. Early detection, proper mental health support, and increased awareness are essential to address this growing concern. By combining psychological insights with technological innovation, we can move toward more proactive and personalized mental health care solutions.</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7"/>
          <p:cNvSpPr txBox="1"/>
          <p:nvPr/>
        </p:nvSpPr>
        <p:spPr>
          <a:xfrm>
            <a:off x="1297577" y="2821578"/>
            <a:ext cx="6705599" cy="141078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5400">
                <a:solidFill>
                  <a:schemeClr val="dk1"/>
                </a:solidFill>
                <a:latin typeface="Times New Roman"/>
                <a:ea typeface="Times New Roman"/>
                <a:cs typeface="Times New Roman"/>
                <a:sym typeface="Times New Roman"/>
              </a:rPr>
              <a:t>Thank You</a:t>
            </a:r>
            <a:endParaRPr sz="5400" b="0" strike="noStrike">
              <a:solidFill>
                <a:srgbClr val="000000"/>
              </a:solidFill>
              <a:latin typeface="Times New Roman"/>
              <a:ea typeface="Times New Roman"/>
              <a:cs typeface="Times New Roman"/>
              <a:sym typeface="Times New Roman"/>
            </a:endParaRPr>
          </a:p>
        </p:txBody>
      </p:sp>
      <p:sp>
        <p:nvSpPr>
          <p:cNvPr id="125" name="Google Shape;125;p7"/>
          <p:cNvSpPr txBox="1"/>
          <p:nvPr/>
        </p:nvSpPr>
        <p:spPr>
          <a:xfrm>
            <a:off x="6553080" y="6356520"/>
            <a:ext cx="2133360" cy="36468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1" strike="noStrike">
                <a:solidFill>
                  <a:srgbClr val="000000"/>
                </a:solidFill>
                <a:latin typeface="Calibri"/>
                <a:ea typeface="Calibri"/>
                <a:cs typeface="Calibri"/>
                <a:sym typeface="Calibri"/>
              </a:rPr>
              <a:t>7</a:t>
            </a:fld>
            <a:endParaRPr sz="1200" b="0" strike="noStrike">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819</Words>
  <Application>Microsoft Office PowerPoint</Application>
  <PresentationFormat>On-screen Show (4:3)</PresentationFormat>
  <Paragraphs>118</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Times New Roman</vt:lpstr>
      <vt:lpstr>Office Theme</vt:lpstr>
      <vt:lpstr>PowerPoint Presentation</vt:lpstr>
      <vt:lpstr>PowerPoint Presentation</vt:lpstr>
      <vt:lpstr>Causes of Depression</vt:lpstr>
      <vt:lpstr>Key Points &amp; Objective</vt:lpstr>
      <vt:lpstr>Methods Used</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ABC</dc:creator>
  <cp:lastModifiedBy>serena balyan</cp:lastModifiedBy>
  <cp:revision>2</cp:revision>
  <dcterms:created xsi:type="dcterms:W3CDTF">2010-04-09T07:36:15Z</dcterms:created>
  <dcterms:modified xsi:type="dcterms:W3CDTF">2026-05-14T06:28:05Z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